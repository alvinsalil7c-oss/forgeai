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77575" y="6562723"/>
            <a:ext cx="1066800" cy="2476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98415" y="487108"/>
            <a:ext cx="3042284" cy="1490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F1EFF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F1EFF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F1EFF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F1EFF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D09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77575" y="6562723"/>
            <a:ext cx="1066800" cy="24765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1999" cy="457200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457200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286000">
                <a:moveTo>
                  <a:pt x="12192000" y="0"/>
                </a:moveTo>
                <a:lnTo>
                  <a:pt x="0" y="0"/>
                </a:lnTo>
                <a:lnTo>
                  <a:pt x="0" y="2259008"/>
                </a:lnTo>
                <a:lnTo>
                  <a:pt x="2121" y="2269514"/>
                </a:lnTo>
                <a:lnTo>
                  <a:pt x="7905" y="2278094"/>
                </a:lnTo>
                <a:lnTo>
                  <a:pt x="16485" y="2283878"/>
                </a:lnTo>
                <a:lnTo>
                  <a:pt x="26991" y="2286000"/>
                </a:lnTo>
                <a:lnTo>
                  <a:pt x="12164949" y="2286000"/>
                </a:lnTo>
                <a:lnTo>
                  <a:pt x="12175497" y="2283878"/>
                </a:lnTo>
                <a:lnTo>
                  <a:pt x="12184094" y="2278094"/>
                </a:lnTo>
                <a:lnTo>
                  <a:pt x="12189880" y="2269514"/>
                </a:lnTo>
                <a:lnTo>
                  <a:pt x="12192000" y="2259008"/>
                </a:lnTo>
                <a:lnTo>
                  <a:pt x="12192000" y="0"/>
                </a:lnTo>
                <a:close/>
              </a:path>
            </a:pathLst>
          </a:custGeom>
          <a:solidFill>
            <a:srgbClr val="0D09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7" Type="http://schemas.openxmlformats.org/officeDocument/2006/relationships/image" Target="../media/image1.png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D09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77575" y="6562723"/>
            <a:ext cx="1066800" cy="2476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7217" y="511810"/>
            <a:ext cx="9822180" cy="5410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F1EFF4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2450" y="1733550"/>
            <a:ext cx="7791450" cy="4514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7.png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600" b="0" spc="-1215">
                <a:latin typeface="Cambria"/>
                <a:cs typeface="Cambria"/>
              </a:rPr>
              <a:t>TILT</a:t>
            </a:r>
            <a:r>
              <a:rPr sz="9600" b="0" spc="-310">
                <a:latin typeface="Cambria"/>
                <a:cs typeface="Cambria"/>
              </a:rPr>
              <a:t> </a:t>
            </a:r>
            <a:r>
              <a:rPr sz="9600" b="0" spc="-1065">
                <a:latin typeface="Cambria"/>
                <a:cs typeface="Cambria"/>
              </a:rPr>
              <a:t>AI</a:t>
            </a:r>
            <a:endParaRPr sz="96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5510" y="3015170"/>
            <a:ext cx="10690225" cy="153289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indent="22225" algn="just">
              <a:lnSpc>
                <a:spcPct val="119500"/>
              </a:lnSpc>
              <a:spcBef>
                <a:spcPts val="130"/>
              </a:spcBef>
            </a:pPr>
            <a:r>
              <a:rPr sz="2750" spc="-350">
                <a:solidFill>
                  <a:srgbClr val="DCD6E4"/>
                </a:solidFill>
                <a:latin typeface="Cambria"/>
                <a:cs typeface="Cambria"/>
              </a:rPr>
              <a:t>An</a:t>
            </a:r>
            <a:r>
              <a:rPr sz="2750" spc="200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180">
                <a:solidFill>
                  <a:srgbClr val="DCD6E4"/>
                </a:solidFill>
                <a:latin typeface="Cambria"/>
                <a:cs typeface="Cambria"/>
              </a:rPr>
              <a:t>AI-</a:t>
            </a:r>
            <a:r>
              <a:rPr sz="2750" spc="-160">
                <a:solidFill>
                  <a:srgbClr val="DCD6E4"/>
                </a:solidFill>
                <a:latin typeface="Cambria"/>
                <a:cs typeface="Cambria"/>
              </a:rPr>
              <a:t>powered</a:t>
            </a:r>
            <a:r>
              <a:rPr sz="2750" spc="10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45">
                <a:solidFill>
                  <a:srgbClr val="DCD6E4"/>
                </a:solidFill>
                <a:latin typeface="Cambria"/>
                <a:cs typeface="Cambria"/>
              </a:rPr>
              <a:t>digital</a:t>
            </a:r>
            <a:r>
              <a:rPr sz="2750" spc="-105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120">
                <a:solidFill>
                  <a:srgbClr val="DCD6E4"/>
                </a:solidFill>
                <a:latin typeface="Cambria"/>
                <a:cs typeface="Cambria"/>
              </a:rPr>
              <a:t>well-</a:t>
            </a:r>
            <a:r>
              <a:rPr sz="2750" spc="-70">
                <a:solidFill>
                  <a:srgbClr val="DCD6E4"/>
                </a:solidFill>
                <a:latin typeface="Cambria"/>
                <a:cs typeface="Cambria"/>
              </a:rPr>
              <a:t>being</a:t>
            </a:r>
            <a:r>
              <a:rPr sz="2750" spc="-35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204">
                <a:solidFill>
                  <a:srgbClr val="DCD6E4"/>
                </a:solidFill>
                <a:latin typeface="Cambria"/>
                <a:cs typeface="Cambria"/>
              </a:rPr>
              <a:t>system</a:t>
            </a:r>
            <a:r>
              <a:rPr sz="2750" spc="60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114">
                <a:solidFill>
                  <a:srgbClr val="DCD6E4"/>
                </a:solidFill>
                <a:latin typeface="Cambria"/>
                <a:cs typeface="Cambria"/>
              </a:rPr>
              <a:t>that</a:t>
            </a:r>
            <a:r>
              <a:rPr sz="2750" spc="-10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95">
                <a:solidFill>
                  <a:srgbClr val="DCD6E4"/>
                </a:solidFill>
                <a:latin typeface="Cambria"/>
                <a:cs typeface="Cambria"/>
              </a:rPr>
              <a:t>learns</a:t>
            </a:r>
            <a:r>
              <a:rPr sz="2750" spc="35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>
                <a:solidFill>
                  <a:srgbClr val="DCD6E4"/>
                </a:solidFill>
                <a:latin typeface="Cambria"/>
                <a:cs typeface="Cambria"/>
              </a:rPr>
              <a:t>a</a:t>
            </a:r>
            <a:r>
              <a:rPr sz="2750" spc="10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135">
                <a:solidFill>
                  <a:srgbClr val="DCD6E4"/>
                </a:solidFill>
                <a:latin typeface="Cambria"/>
                <a:cs typeface="Cambria"/>
              </a:rPr>
              <a:t>user’s</a:t>
            </a:r>
            <a:r>
              <a:rPr sz="2750" spc="30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110">
                <a:solidFill>
                  <a:srgbClr val="DCD6E4"/>
                </a:solidFill>
                <a:latin typeface="Cambria"/>
                <a:cs typeface="Cambria"/>
              </a:rPr>
              <a:t>normal</a:t>
            </a:r>
            <a:r>
              <a:rPr sz="2750" spc="15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35">
                <a:solidFill>
                  <a:srgbClr val="DCD6E4"/>
                </a:solidFill>
                <a:latin typeface="Cambria"/>
                <a:cs typeface="Cambria"/>
              </a:rPr>
              <a:t>behavior, </a:t>
            </a:r>
            <a:r>
              <a:rPr sz="2750" spc="-145">
                <a:solidFill>
                  <a:srgbClr val="DCD6E4"/>
                </a:solidFill>
                <a:latin typeface="Cambria"/>
                <a:cs typeface="Cambria"/>
              </a:rPr>
              <a:t>detects</a:t>
            </a:r>
            <a:r>
              <a:rPr sz="2750" spc="-5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80">
                <a:solidFill>
                  <a:srgbClr val="DCD6E4"/>
                </a:solidFill>
                <a:latin typeface="Cambria"/>
                <a:cs typeface="Cambria"/>
              </a:rPr>
              <a:t>early</a:t>
            </a:r>
            <a:r>
              <a:rPr sz="2750" spc="-70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135">
                <a:solidFill>
                  <a:srgbClr val="DCD6E4"/>
                </a:solidFill>
                <a:latin typeface="Cambria"/>
                <a:cs typeface="Cambria"/>
              </a:rPr>
              <a:t>signs</a:t>
            </a:r>
            <a:r>
              <a:rPr sz="2750" spc="-15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10">
                <a:solidFill>
                  <a:srgbClr val="DCD6E4"/>
                </a:solidFill>
                <a:latin typeface="Cambria"/>
                <a:cs typeface="Cambria"/>
              </a:rPr>
              <a:t>of</a:t>
            </a:r>
            <a:r>
              <a:rPr sz="2750" spc="-125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204">
                <a:solidFill>
                  <a:srgbClr val="DCD6E4"/>
                </a:solidFill>
                <a:latin typeface="Cambria"/>
                <a:cs typeface="Cambria"/>
              </a:rPr>
              <a:t>stress</a:t>
            </a:r>
            <a:r>
              <a:rPr sz="2750" spc="55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45">
                <a:solidFill>
                  <a:srgbClr val="DCD6E4"/>
                </a:solidFill>
                <a:latin typeface="Cambria"/>
                <a:cs typeface="Cambria"/>
              </a:rPr>
              <a:t>and</a:t>
            </a:r>
            <a:r>
              <a:rPr sz="2750" spc="-5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100">
                <a:solidFill>
                  <a:srgbClr val="DCD6E4"/>
                </a:solidFill>
                <a:latin typeface="Cambria"/>
                <a:cs typeface="Cambria"/>
              </a:rPr>
              <a:t>mental</a:t>
            </a:r>
            <a:r>
              <a:rPr sz="2750" spc="-45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70">
                <a:solidFill>
                  <a:srgbClr val="DCD6E4"/>
                </a:solidFill>
                <a:latin typeface="Cambria"/>
                <a:cs typeface="Cambria"/>
              </a:rPr>
              <a:t>fatigue</a:t>
            </a:r>
            <a:r>
              <a:rPr sz="2750" spc="-35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114">
                <a:solidFill>
                  <a:srgbClr val="DCD6E4"/>
                </a:solidFill>
                <a:latin typeface="Cambria"/>
                <a:cs typeface="Cambria"/>
              </a:rPr>
              <a:t>during</a:t>
            </a:r>
            <a:r>
              <a:rPr sz="2750" spc="-35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114">
                <a:solidFill>
                  <a:srgbClr val="DCD6E4"/>
                </a:solidFill>
                <a:latin typeface="Cambria"/>
                <a:cs typeface="Cambria"/>
              </a:rPr>
              <a:t>prolonged</a:t>
            </a:r>
            <a:r>
              <a:rPr sz="2750" spc="-10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35">
                <a:solidFill>
                  <a:srgbClr val="DCD6E4"/>
                </a:solidFill>
                <a:latin typeface="Cambria"/>
                <a:cs typeface="Cambria"/>
              </a:rPr>
              <a:t>gaming,</a:t>
            </a:r>
            <a:r>
              <a:rPr sz="2750" spc="-95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25">
                <a:solidFill>
                  <a:srgbClr val="DCD6E4"/>
                </a:solidFill>
                <a:latin typeface="Cambria"/>
                <a:cs typeface="Cambria"/>
              </a:rPr>
              <a:t>and </a:t>
            </a:r>
            <a:r>
              <a:rPr sz="2750" spc="-130">
                <a:solidFill>
                  <a:srgbClr val="DCD6E4"/>
                </a:solidFill>
                <a:latin typeface="Cambria"/>
                <a:cs typeface="Cambria"/>
              </a:rPr>
              <a:t>delivers</a:t>
            </a:r>
            <a:r>
              <a:rPr sz="2750" spc="-30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100">
                <a:solidFill>
                  <a:srgbClr val="DCD6E4"/>
                </a:solidFill>
                <a:latin typeface="Cambria"/>
                <a:cs typeface="Cambria"/>
              </a:rPr>
              <a:t>timely,</a:t>
            </a:r>
            <a:r>
              <a:rPr sz="2750" spc="-35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120">
                <a:solidFill>
                  <a:srgbClr val="DCD6E4"/>
                </a:solidFill>
                <a:latin typeface="Cambria"/>
                <a:cs typeface="Cambria"/>
              </a:rPr>
              <a:t>personalized</a:t>
            </a:r>
            <a:r>
              <a:rPr sz="2750" spc="30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150">
                <a:solidFill>
                  <a:srgbClr val="DCD6E4"/>
                </a:solidFill>
                <a:latin typeface="Cambria"/>
                <a:cs typeface="Cambria"/>
              </a:rPr>
              <a:t>interventions</a:t>
            </a:r>
            <a:r>
              <a:rPr sz="2750" spc="25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85">
                <a:solidFill>
                  <a:srgbClr val="DCD6E4"/>
                </a:solidFill>
                <a:latin typeface="Cambria"/>
                <a:cs typeface="Cambria"/>
              </a:rPr>
              <a:t>to</a:t>
            </a:r>
            <a:r>
              <a:rPr sz="2750" spc="-5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155">
                <a:solidFill>
                  <a:srgbClr val="DCD6E4"/>
                </a:solidFill>
                <a:latin typeface="Cambria"/>
                <a:cs typeface="Cambria"/>
              </a:rPr>
              <a:t>promote</a:t>
            </a:r>
            <a:r>
              <a:rPr sz="2750" spc="5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95">
                <a:solidFill>
                  <a:srgbClr val="DCD6E4"/>
                </a:solidFill>
                <a:latin typeface="Cambria"/>
                <a:cs typeface="Cambria"/>
              </a:rPr>
              <a:t>healthier</a:t>
            </a:r>
            <a:r>
              <a:rPr sz="2750" spc="-25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40">
                <a:solidFill>
                  <a:srgbClr val="DCD6E4"/>
                </a:solidFill>
                <a:latin typeface="Cambria"/>
                <a:cs typeface="Cambria"/>
              </a:rPr>
              <a:t>digital</a:t>
            </a:r>
            <a:r>
              <a:rPr sz="2750" spc="-5">
                <a:solidFill>
                  <a:srgbClr val="DCD6E4"/>
                </a:solidFill>
                <a:latin typeface="Cambria"/>
                <a:cs typeface="Cambria"/>
              </a:rPr>
              <a:t> </a:t>
            </a:r>
            <a:r>
              <a:rPr sz="2750" spc="-20">
                <a:solidFill>
                  <a:srgbClr val="DCD6E4"/>
                </a:solidFill>
                <a:latin typeface="Cambria"/>
                <a:cs typeface="Cambria"/>
              </a:rPr>
              <a:t>habits.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3109" y="5767704"/>
            <a:ext cx="30556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00">
                <a:solidFill>
                  <a:srgbClr val="B6ACCA"/>
                </a:solidFill>
                <a:latin typeface="Tahoma"/>
                <a:cs typeface="Tahoma"/>
              </a:rPr>
              <a:t>PROPOSED</a:t>
            </a:r>
            <a:r>
              <a:rPr sz="1200" spc="95">
                <a:solidFill>
                  <a:srgbClr val="B6ACCA"/>
                </a:solidFill>
                <a:latin typeface="Tahoma"/>
                <a:cs typeface="Tahoma"/>
              </a:rPr>
              <a:t> </a:t>
            </a:r>
            <a:r>
              <a:rPr sz="1200" spc="120">
                <a:solidFill>
                  <a:srgbClr val="B6ACCA"/>
                </a:solidFill>
                <a:latin typeface="Tahoma"/>
                <a:cs typeface="Tahoma"/>
              </a:rPr>
              <a:t>SYSTEM</a:t>
            </a:r>
            <a:r>
              <a:rPr sz="1200" spc="135">
                <a:solidFill>
                  <a:srgbClr val="B6ACCA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B6ACCA"/>
                </a:solidFill>
                <a:latin typeface="Tahoma"/>
                <a:cs typeface="Tahoma"/>
              </a:rPr>
              <a:t>·</a:t>
            </a:r>
            <a:r>
              <a:rPr sz="1200" spc="90">
                <a:solidFill>
                  <a:srgbClr val="B6ACCA"/>
                </a:solidFill>
                <a:latin typeface="Tahoma"/>
                <a:cs typeface="Tahoma"/>
              </a:rPr>
              <a:t> </a:t>
            </a:r>
            <a:r>
              <a:rPr sz="1200" spc="95">
                <a:solidFill>
                  <a:srgbClr val="B6ACCA"/>
                </a:solidFill>
                <a:latin typeface="Tahoma"/>
                <a:cs typeface="Tahoma"/>
              </a:rPr>
              <a:t>PRISM</a:t>
            </a:r>
            <a:r>
              <a:rPr sz="1200" spc="-204">
                <a:solidFill>
                  <a:srgbClr val="B6ACCA"/>
                </a:solidFill>
                <a:latin typeface="Tahoma"/>
                <a:cs typeface="Tahoma"/>
              </a:rPr>
              <a:t> </a:t>
            </a:r>
            <a:r>
              <a:rPr sz="1200" spc="60">
                <a:solidFill>
                  <a:srgbClr val="B6ACCA"/>
                </a:solidFill>
                <a:latin typeface="Tahoma"/>
                <a:cs typeface="Tahoma"/>
              </a:rPr>
              <a:t>-AUDITED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886575" y="0"/>
            <a:ext cx="5305425" cy="6858000"/>
            <a:chOff x="6886575" y="0"/>
            <a:chExt cx="5305425" cy="6858000"/>
          </a:xfrm>
        </p:grpSpPr>
        <p:pic>
          <p:nvPicPr>
            <p:cNvPr id="3" name="object 3" descr="preencoded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05625" y="0"/>
              <a:ext cx="5286375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86575" y="0"/>
              <a:ext cx="38100" cy="6858000"/>
            </a:xfrm>
            <a:custGeom>
              <a:avLst/>
              <a:gdLst/>
              <a:ahLst/>
              <a:cxnLst/>
              <a:rect l="l" t="t" r="r" b="b"/>
              <a:pathLst>
                <a:path w="38100" h="6858000">
                  <a:moveTo>
                    <a:pt x="381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8100" y="68580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785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97217" y="521335"/>
            <a:ext cx="5490845" cy="144716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ct val="88700"/>
              </a:lnSpc>
              <a:spcBef>
                <a:spcPts val="585"/>
              </a:spcBef>
            </a:pPr>
            <a:r>
              <a:t>Four</a:t>
            </a:r>
            <a:r>
              <a:rPr spc="-105"/>
              <a:t> </a:t>
            </a:r>
            <a:r>
              <a:t>hours</a:t>
            </a:r>
            <a:r>
              <a:rPr spc="-125"/>
              <a:t> </a:t>
            </a:r>
            <a:r>
              <a:rPr spc="-90"/>
              <a:t>in,</a:t>
            </a:r>
            <a:r>
              <a:rPr spc="-185"/>
              <a:t> </a:t>
            </a:r>
            <a:r>
              <a:t>your</a:t>
            </a:r>
            <a:r>
              <a:rPr spc="-185"/>
              <a:t> </a:t>
            </a:r>
            <a:r>
              <a:rPr spc="-10"/>
              <a:t>brain </a:t>
            </a:r>
            <a:r>
              <a:t>has</a:t>
            </a:r>
            <a:r>
              <a:rPr spc="-40"/>
              <a:t> </a:t>
            </a:r>
            <a:r>
              <a:rPr spc="-20"/>
              <a:t>already</a:t>
            </a:r>
            <a:r>
              <a:rPr spc="-100"/>
              <a:t> </a:t>
            </a:r>
            <a:r>
              <a:t>changed,</a:t>
            </a:r>
            <a:r>
              <a:rPr spc="-105"/>
              <a:t> </a:t>
            </a:r>
            <a:r>
              <a:rPr spc="45"/>
              <a:t>and </a:t>
            </a:r>
            <a:r>
              <a:rPr spc="50"/>
              <a:t>nothing</a:t>
            </a:r>
            <a:r>
              <a:rPr spc="-190"/>
              <a:t> </a:t>
            </a:r>
            <a:r>
              <a:t>told</a:t>
            </a:r>
            <a:r>
              <a:rPr spc="-155"/>
              <a:t> </a:t>
            </a:r>
            <a:r>
              <a:rPr spc="-25"/>
              <a:t>you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7217" y="3301047"/>
            <a:ext cx="2301240" cy="12185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150" b="1" spc="-25">
                <a:solidFill>
                  <a:srgbClr val="52D7FF"/>
                </a:solidFill>
                <a:latin typeface="Tahoma"/>
                <a:cs typeface="Tahoma"/>
              </a:rPr>
              <a:t>04</a:t>
            </a:r>
            <a:endParaRPr sz="5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200" spc="85">
                <a:solidFill>
                  <a:srgbClr val="B6ACCA"/>
                </a:solidFill>
                <a:latin typeface="Tahoma"/>
                <a:cs typeface="Tahoma"/>
              </a:rPr>
              <a:t>HOURS</a:t>
            </a:r>
            <a:r>
              <a:rPr sz="1200" spc="125">
                <a:solidFill>
                  <a:srgbClr val="B6ACCA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B6ACCA"/>
                </a:solidFill>
                <a:latin typeface="Tahoma"/>
                <a:cs typeface="Tahoma"/>
              </a:rPr>
              <a:t>OF</a:t>
            </a:r>
            <a:r>
              <a:rPr sz="1200" spc="204">
                <a:solidFill>
                  <a:srgbClr val="B6ACCA"/>
                </a:solidFill>
                <a:latin typeface="Tahoma"/>
                <a:cs typeface="Tahoma"/>
              </a:rPr>
              <a:t> </a:t>
            </a:r>
            <a:r>
              <a:rPr sz="1200" spc="90">
                <a:solidFill>
                  <a:srgbClr val="B6ACCA"/>
                </a:solidFill>
                <a:latin typeface="Tahoma"/>
                <a:cs typeface="Tahoma"/>
              </a:rPr>
              <a:t>SUSTAINED</a:t>
            </a:r>
            <a:r>
              <a:rPr sz="1200" spc="150">
                <a:solidFill>
                  <a:srgbClr val="B6ACCA"/>
                </a:solidFill>
                <a:latin typeface="Tahoma"/>
                <a:cs typeface="Tahoma"/>
              </a:rPr>
              <a:t> </a:t>
            </a:r>
            <a:r>
              <a:rPr sz="1200" spc="60">
                <a:solidFill>
                  <a:srgbClr val="B6ACCA"/>
                </a:solidFill>
                <a:latin typeface="Tahoma"/>
                <a:cs typeface="Tahoma"/>
              </a:rPr>
              <a:t>LOAD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23971" y="3440366"/>
            <a:ext cx="2917190" cy="1857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55600">
              <a:lnSpc>
                <a:spcPct val="117800"/>
              </a:lnSpc>
              <a:spcBef>
                <a:spcPts val="95"/>
              </a:spcBef>
            </a:pPr>
            <a:r>
              <a:rPr sz="1700" spc="-30">
                <a:solidFill>
                  <a:srgbClr val="DCD6E4"/>
                </a:solidFill>
                <a:latin typeface="Arial MT"/>
                <a:cs typeface="Arial MT"/>
              </a:rPr>
              <a:t>Stress,</a:t>
            </a:r>
            <a:r>
              <a:rPr sz="1700" spc="-6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mental</a:t>
            </a:r>
            <a:r>
              <a:rPr sz="1700" spc="-7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fatigue,</a:t>
            </a:r>
            <a:r>
              <a:rPr sz="1700" spc="1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25">
                <a:solidFill>
                  <a:srgbClr val="DCD6E4"/>
                </a:solidFill>
                <a:latin typeface="Arial MT"/>
                <a:cs typeface="Arial MT"/>
              </a:rPr>
              <a:t>and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frustration</a:t>
            </a:r>
            <a:r>
              <a:rPr sz="1700" spc="7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build</a:t>
            </a:r>
            <a:r>
              <a:rPr sz="1700" spc="15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gradually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across</a:t>
            </a:r>
            <a:r>
              <a:rPr sz="1700" spc="-5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a</a:t>
            </a:r>
            <a:r>
              <a:rPr sz="1700" spc="-2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long</a:t>
            </a:r>
            <a:r>
              <a:rPr sz="1700" spc="-5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session.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Cognitive</a:t>
            </a:r>
            <a:r>
              <a:rPr sz="1700" spc="-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performance </a:t>
            </a:r>
            <a:r>
              <a:rPr sz="1700" spc="-20">
                <a:solidFill>
                  <a:srgbClr val="DCD6E4"/>
                </a:solidFill>
                <a:latin typeface="Arial MT"/>
                <a:cs typeface="Arial MT"/>
              </a:rPr>
              <a:t>drops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before</a:t>
            </a:r>
            <a:r>
              <a:rPr sz="1700" spc="-4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the</a:t>
            </a:r>
            <a:r>
              <a:rPr sz="1700" spc="-114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person</a:t>
            </a:r>
            <a:r>
              <a:rPr sz="1700" spc="-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consciously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registers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25">
                <a:solidFill>
                  <a:srgbClr val="DCD6E4"/>
                </a:solidFill>
                <a:latin typeface="Arial MT"/>
                <a:cs typeface="Arial MT"/>
              </a:rPr>
              <a:t>it.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09600" y="5545454"/>
            <a:ext cx="5686425" cy="120014"/>
            <a:chOff x="609600" y="5545454"/>
            <a:chExt cx="5686425" cy="120014"/>
          </a:xfrm>
        </p:grpSpPr>
        <p:sp>
          <p:nvSpPr>
            <p:cNvPr id="9" name="object 9"/>
            <p:cNvSpPr/>
            <p:nvPr/>
          </p:nvSpPr>
          <p:spPr>
            <a:xfrm>
              <a:off x="609600" y="5545454"/>
              <a:ext cx="5686425" cy="120014"/>
            </a:xfrm>
            <a:custGeom>
              <a:avLst/>
              <a:gdLst/>
              <a:ahLst/>
              <a:cxnLst/>
              <a:rect l="l" t="t" r="r" b="b"/>
              <a:pathLst>
                <a:path w="5686425" h="120014">
                  <a:moveTo>
                    <a:pt x="4662805" y="0"/>
                  </a:moveTo>
                  <a:lnTo>
                    <a:pt x="0" y="42862"/>
                  </a:lnTo>
                  <a:lnTo>
                    <a:pt x="0" y="77152"/>
                  </a:lnTo>
                  <a:lnTo>
                    <a:pt x="4662805" y="120015"/>
                  </a:lnTo>
                  <a:lnTo>
                    <a:pt x="5686425" y="60007"/>
                  </a:lnTo>
                  <a:lnTo>
                    <a:pt x="4662805" y="0"/>
                  </a:lnTo>
                  <a:close/>
                </a:path>
              </a:pathLst>
            </a:custGeom>
            <a:solidFill>
              <a:srgbClr val="571C9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9600" y="5581649"/>
              <a:ext cx="4267200" cy="38100"/>
            </a:xfrm>
            <a:custGeom>
              <a:avLst/>
              <a:gdLst/>
              <a:ahLst/>
              <a:cxnLst/>
              <a:rect l="l" t="t" r="r" b="b"/>
              <a:pathLst>
                <a:path w="4267200" h="38100">
                  <a:moveTo>
                    <a:pt x="4248150" y="0"/>
                  </a:moveTo>
                  <a:lnTo>
                    <a:pt x="19050" y="0"/>
                  </a:lnTo>
                  <a:lnTo>
                    <a:pt x="11637" y="1497"/>
                  </a:lnTo>
                  <a:lnTo>
                    <a:pt x="5581" y="5581"/>
                  </a:lnTo>
                  <a:lnTo>
                    <a:pt x="1497" y="11637"/>
                  </a:lnTo>
                  <a:lnTo>
                    <a:pt x="0" y="19050"/>
                  </a:lnTo>
                  <a:lnTo>
                    <a:pt x="1497" y="26462"/>
                  </a:lnTo>
                  <a:lnTo>
                    <a:pt x="5581" y="32518"/>
                  </a:lnTo>
                  <a:lnTo>
                    <a:pt x="11637" y="36602"/>
                  </a:lnTo>
                  <a:lnTo>
                    <a:pt x="19050" y="38100"/>
                  </a:lnTo>
                  <a:lnTo>
                    <a:pt x="4248150" y="38100"/>
                  </a:lnTo>
                  <a:lnTo>
                    <a:pt x="4255573" y="36602"/>
                  </a:lnTo>
                  <a:lnTo>
                    <a:pt x="4261627" y="32518"/>
                  </a:lnTo>
                  <a:lnTo>
                    <a:pt x="4265705" y="26462"/>
                  </a:lnTo>
                  <a:lnTo>
                    <a:pt x="4267200" y="19050"/>
                  </a:lnTo>
                  <a:lnTo>
                    <a:pt x="4265705" y="11637"/>
                  </a:lnTo>
                  <a:lnTo>
                    <a:pt x="4261627" y="5581"/>
                  </a:lnTo>
                  <a:lnTo>
                    <a:pt x="4255573" y="1497"/>
                  </a:lnTo>
                  <a:lnTo>
                    <a:pt x="4248150" y="0"/>
                  </a:lnTo>
                  <a:close/>
                </a:path>
              </a:pathLst>
            </a:custGeom>
            <a:solidFill>
              <a:srgbClr val="785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97217" y="5855355"/>
            <a:ext cx="5518150" cy="38735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The</a:t>
            </a:r>
            <a:r>
              <a:rPr sz="1100" spc="20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signals</a:t>
            </a:r>
            <a:r>
              <a:rPr sz="1100" spc="12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are</a:t>
            </a:r>
            <a:r>
              <a:rPr sz="1100" spc="10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there</a:t>
            </a:r>
            <a:r>
              <a:rPr sz="1100" spc="10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in</a:t>
            </a:r>
            <a:r>
              <a:rPr sz="1100" spc="17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behavior.</a:t>
            </a:r>
            <a:r>
              <a:rPr sz="1100" spc="10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Nobody</a:t>
            </a:r>
            <a:r>
              <a:rPr sz="1100" spc="19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is</a:t>
            </a:r>
            <a:r>
              <a:rPr sz="1100" spc="12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reading</a:t>
            </a:r>
            <a:r>
              <a:rPr sz="1100" spc="16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them.</a:t>
            </a:r>
            <a:r>
              <a:rPr sz="1100" spc="10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Gaming</a:t>
            </a:r>
            <a:r>
              <a:rPr sz="1100" spc="5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is</a:t>
            </a:r>
            <a:r>
              <a:rPr sz="1100" spc="13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the</a:t>
            </a:r>
            <a:r>
              <a:rPr sz="1100" spc="20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-10">
                <a:solidFill>
                  <a:srgbClr val="A89FBB"/>
                </a:solidFill>
                <a:latin typeface="Arial MT"/>
                <a:cs typeface="Arial MT"/>
              </a:rPr>
              <a:t>sharpest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case;</a:t>
            </a:r>
            <a:r>
              <a:rPr sz="1100" spc="17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the</a:t>
            </a:r>
            <a:r>
              <a:rPr sz="1100" spc="9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same</a:t>
            </a:r>
            <a:r>
              <a:rPr sz="1100" spc="19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45">
                <a:solidFill>
                  <a:srgbClr val="A89FBB"/>
                </a:solidFill>
                <a:latin typeface="Arial MT"/>
                <a:cs typeface="Arial MT"/>
              </a:rPr>
              <a:t>pattern</a:t>
            </a:r>
            <a:r>
              <a:rPr sz="1100" spc="6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50">
                <a:solidFill>
                  <a:srgbClr val="A89FBB"/>
                </a:solidFill>
                <a:latin typeface="Arial MT"/>
                <a:cs typeface="Arial MT"/>
              </a:rPr>
              <a:t>hits</a:t>
            </a:r>
            <a:r>
              <a:rPr sz="1100" spc="11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any</a:t>
            </a:r>
            <a:r>
              <a:rPr sz="1100" spc="8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deep</a:t>
            </a:r>
            <a:r>
              <a:rPr sz="1100" spc="15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digital</a:t>
            </a:r>
            <a:r>
              <a:rPr sz="1100" spc="12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-10">
                <a:solidFill>
                  <a:srgbClr val="A89FBB"/>
                </a:solidFill>
                <a:latin typeface="Arial MT"/>
                <a:cs typeface="Arial MT"/>
              </a:rPr>
              <a:t>session.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7217" y="521335"/>
            <a:ext cx="9671685" cy="98933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3529"/>
              </a:lnSpc>
              <a:spcBef>
                <a:spcPts val="655"/>
              </a:spcBef>
            </a:pPr>
            <a:r>
              <a:rPr spc="-45"/>
              <a:t>Today's</a:t>
            </a:r>
            <a:r>
              <a:rPr spc="-185"/>
              <a:t> </a:t>
            </a:r>
            <a:r>
              <a:rPr spc="-10"/>
              <a:t>tools</a:t>
            </a:r>
            <a:r>
              <a:rPr spc="-105"/>
              <a:t> </a:t>
            </a:r>
            <a:r>
              <a:t>measure</a:t>
            </a:r>
            <a:r>
              <a:rPr spc="-170"/>
              <a:t> </a:t>
            </a:r>
            <a:r>
              <a:rPr spc="75"/>
              <a:t>how</a:t>
            </a:r>
            <a:r>
              <a:rPr spc="-114"/>
              <a:t> </a:t>
            </a:r>
            <a:r>
              <a:t>you</a:t>
            </a:r>
            <a:r>
              <a:rPr spc="-145"/>
              <a:t> </a:t>
            </a:r>
            <a:r>
              <a:rPr spc="-70"/>
              <a:t>play,</a:t>
            </a:r>
            <a:r>
              <a:rPr spc="-80"/>
              <a:t> </a:t>
            </a:r>
            <a:r>
              <a:t>not</a:t>
            </a:r>
            <a:r>
              <a:rPr spc="-95"/>
              <a:t> </a:t>
            </a:r>
            <a:r>
              <a:rPr spc="50"/>
              <a:t>how </a:t>
            </a:r>
            <a:r>
              <a:rPr spc="-40"/>
              <a:t>you're</a:t>
            </a:r>
            <a:r>
              <a:rPr spc="-204"/>
              <a:t> </a:t>
            </a:r>
            <a:r>
              <a:rPr spc="55"/>
              <a:t>doing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90550" y="1733550"/>
          <a:ext cx="7677150" cy="4514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7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28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80"/>
                        </a:spcBef>
                      </a:pPr>
                      <a:r>
                        <a:rPr sz="3825" b="1" baseline="13071">
                          <a:solidFill>
                            <a:srgbClr val="7852FF"/>
                          </a:solidFill>
                          <a:latin typeface="Arial"/>
                          <a:cs typeface="Arial"/>
                        </a:rPr>
                        <a:t>01</a:t>
                      </a:r>
                      <a:r>
                        <a:rPr sz="3825" b="1" spc="937" baseline="13071">
                          <a:solidFill>
                            <a:srgbClr val="7852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>
                          <a:solidFill>
                            <a:srgbClr val="DCD6E4"/>
                          </a:solidFill>
                          <a:latin typeface="Verdana"/>
                          <a:cs typeface="Verdana"/>
                        </a:rPr>
                        <a:t>No</a:t>
                      </a:r>
                      <a:r>
                        <a:rPr sz="2400" spc="-280">
                          <a:solidFill>
                            <a:srgbClr val="DCD6E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spc="-60">
                          <a:solidFill>
                            <a:srgbClr val="DCD6E4"/>
                          </a:solidFill>
                          <a:latin typeface="Verdana"/>
                          <a:cs typeface="Verdana"/>
                        </a:rPr>
                        <a:t>personal</a:t>
                      </a:r>
                      <a:r>
                        <a:rPr sz="2400" spc="-235">
                          <a:solidFill>
                            <a:srgbClr val="DCD6E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spc="-10">
                          <a:solidFill>
                            <a:srgbClr val="DCD6E4"/>
                          </a:solidFill>
                          <a:latin typeface="Verdana"/>
                          <a:cs typeface="Verdana"/>
                        </a:rPr>
                        <a:t>baseline</a:t>
                      </a:r>
                      <a:endParaRPr sz="2400">
                        <a:latin typeface="Verdana"/>
                        <a:cs typeface="Verdana"/>
                      </a:endParaRPr>
                    </a:p>
                    <a:p>
                      <a:pPr marL="521970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sz="1700" spc="-1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Systems</a:t>
                      </a:r>
                      <a:r>
                        <a:rPr sz="1700" spc="-85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judge</a:t>
                      </a:r>
                      <a:r>
                        <a:rPr sz="1700" spc="-3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against</a:t>
                      </a:r>
                      <a:r>
                        <a:rPr sz="1700" spc="-55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-1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generic</a:t>
                      </a:r>
                      <a:r>
                        <a:rPr sz="1700" spc="-95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thresholds</a:t>
                      </a:r>
                      <a:r>
                        <a:rPr sz="1700" spc="-5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instead</a:t>
                      </a:r>
                      <a:r>
                        <a:rPr sz="1700" spc="-15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65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sz="1700" spc="-95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your </a:t>
                      </a:r>
                      <a:r>
                        <a:rPr sz="1700" spc="-1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normal.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75260" marB="0">
                    <a:lnR w="38100">
                      <a:solidFill>
                        <a:srgbClr val="7852FF"/>
                      </a:solidFill>
                      <a:prstDash val="solid"/>
                    </a:lnR>
                    <a:lnB w="9525">
                      <a:solidFill>
                        <a:srgbClr val="3A305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34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3825" b="1" baseline="13071">
                          <a:solidFill>
                            <a:srgbClr val="7852FF"/>
                          </a:solidFill>
                          <a:latin typeface="Arial"/>
                          <a:cs typeface="Arial"/>
                        </a:rPr>
                        <a:t>02</a:t>
                      </a:r>
                      <a:r>
                        <a:rPr sz="3825" b="1" spc="839" baseline="13071">
                          <a:solidFill>
                            <a:srgbClr val="7852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50">
                          <a:solidFill>
                            <a:srgbClr val="DCD6E4"/>
                          </a:solidFill>
                          <a:latin typeface="Verdana"/>
                          <a:cs typeface="Verdana"/>
                        </a:rPr>
                        <a:t>No</a:t>
                      </a:r>
                      <a:r>
                        <a:rPr sz="2400" spc="-315">
                          <a:solidFill>
                            <a:srgbClr val="DCD6E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spc="-110">
                          <a:solidFill>
                            <a:srgbClr val="DCD6E4"/>
                          </a:solidFill>
                          <a:latin typeface="Verdana"/>
                          <a:cs typeface="Verdana"/>
                        </a:rPr>
                        <a:t>early</a:t>
                      </a:r>
                      <a:r>
                        <a:rPr sz="2400" spc="-330">
                          <a:solidFill>
                            <a:srgbClr val="DCD6E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spc="-10">
                          <a:solidFill>
                            <a:srgbClr val="DCD6E4"/>
                          </a:solidFill>
                          <a:latin typeface="Verdana"/>
                          <a:cs typeface="Verdana"/>
                        </a:rPr>
                        <a:t>detection</a:t>
                      </a:r>
                      <a:endParaRPr sz="2400">
                        <a:latin typeface="Verdana"/>
                        <a:cs typeface="Verdana"/>
                      </a:endParaRPr>
                    </a:p>
                    <a:p>
                      <a:pPr marL="521970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sz="170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Stress</a:t>
                      </a:r>
                      <a:r>
                        <a:rPr sz="1700" spc="-1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gets</a:t>
                      </a:r>
                      <a:r>
                        <a:rPr sz="1700" spc="-85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noticed</a:t>
                      </a:r>
                      <a:r>
                        <a:rPr sz="1700" spc="-1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after</a:t>
                      </a:r>
                      <a:r>
                        <a:rPr sz="1700" spc="-8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75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it</a:t>
                      </a:r>
                      <a:r>
                        <a:rPr sz="1700" spc="-55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has</a:t>
                      </a:r>
                      <a:r>
                        <a:rPr sz="1700" spc="-8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-2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already</a:t>
                      </a:r>
                      <a:r>
                        <a:rPr sz="1700" spc="-85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-1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degraded</a:t>
                      </a:r>
                      <a:r>
                        <a:rPr sz="1700" spc="-15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-1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performance.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75895" marB="0">
                    <a:lnR w="38100">
                      <a:solidFill>
                        <a:srgbClr val="7852FF"/>
                      </a:solidFill>
                      <a:prstDash val="solid"/>
                    </a:lnR>
                    <a:lnT w="9525">
                      <a:solidFill>
                        <a:srgbClr val="3A305E"/>
                      </a:solidFill>
                      <a:prstDash val="solid"/>
                    </a:lnT>
                    <a:lnB w="9525">
                      <a:solidFill>
                        <a:srgbClr val="3A305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39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0"/>
                        </a:spcBef>
                      </a:pPr>
                      <a:r>
                        <a:rPr sz="3825" b="1" baseline="13071">
                          <a:solidFill>
                            <a:srgbClr val="7852FF"/>
                          </a:solidFill>
                          <a:latin typeface="Arial"/>
                          <a:cs typeface="Arial"/>
                        </a:rPr>
                        <a:t>03</a:t>
                      </a:r>
                      <a:r>
                        <a:rPr sz="3825" b="1" spc="907" baseline="13071">
                          <a:solidFill>
                            <a:srgbClr val="7852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45">
                          <a:solidFill>
                            <a:srgbClr val="DCD6E4"/>
                          </a:solidFill>
                          <a:latin typeface="Verdana"/>
                          <a:cs typeface="Verdana"/>
                        </a:rPr>
                        <a:t>Single</a:t>
                      </a:r>
                      <a:r>
                        <a:rPr sz="2400" spc="-315">
                          <a:solidFill>
                            <a:srgbClr val="DCD6E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spc="-110">
                          <a:solidFill>
                            <a:srgbClr val="DCD6E4"/>
                          </a:solidFill>
                          <a:latin typeface="Verdana"/>
                          <a:cs typeface="Verdana"/>
                        </a:rPr>
                        <a:t>signal,</a:t>
                      </a:r>
                      <a:r>
                        <a:rPr sz="2400" spc="-265">
                          <a:solidFill>
                            <a:srgbClr val="DCD6E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spc="-35">
                          <a:solidFill>
                            <a:srgbClr val="DCD6E4"/>
                          </a:solidFill>
                          <a:latin typeface="Verdana"/>
                          <a:cs typeface="Verdana"/>
                        </a:rPr>
                        <a:t>single</a:t>
                      </a:r>
                      <a:r>
                        <a:rPr sz="2400" spc="-310">
                          <a:solidFill>
                            <a:srgbClr val="DCD6E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spc="-10">
                          <a:solidFill>
                            <a:srgbClr val="DCD6E4"/>
                          </a:solidFill>
                          <a:latin typeface="Verdana"/>
                          <a:cs typeface="Verdana"/>
                        </a:rPr>
                        <a:t>moment</a:t>
                      </a:r>
                      <a:endParaRPr sz="2400">
                        <a:latin typeface="Verdana"/>
                        <a:cs typeface="Verdana"/>
                      </a:endParaRPr>
                    </a:p>
                    <a:p>
                      <a:pPr marL="521970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sz="170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Nothing</a:t>
                      </a:r>
                      <a:r>
                        <a:rPr sz="1700" spc="-75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watches</a:t>
                      </a:r>
                      <a:r>
                        <a:rPr sz="1700" spc="1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-1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several</a:t>
                      </a:r>
                      <a:r>
                        <a:rPr sz="1700" spc="3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-1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behavioral</a:t>
                      </a:r>
                      <a:r>
                        <a:rPr sz="1700" spc="-5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signals</a:t>
                      </a:r>
                      <a:r>
                        <a:rPr sz="1700" spc="-75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-1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continuously.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71450" marB="0">
                    <a:lnR w="38100">
                      <a:solidFill>
                        <a:srgbClr val="7852FF"/>
                      </a:solidFill>
                      <a:prstDash val="solid"/>
                    </a:lnR>
                    <a:lnT w="9525">
                      <a:solidFill>
                        <a:srgbClr val="3A305E"/>
                      </a:solidFill>
                      <a:prstDash val="solid"/>
                    </a:lnT>
                    <a:lnB w="9525">
                      <a:solidFill>
                        <a:srgbClr val="3A305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3825" b="1" baseline="13071">
                          <a:solidFill>
                            <a:srgbClr val="7852FF"/>
                          </a:solidFill>
                          <a:latin typeface="Arial"/>
                          <a:cs typeface="Arial"/>
                        </a:rPr>
                        <a:t>04</a:t>
                      </a:r>
                      <a:r>
                        <a:rPr sz="3825" b="1" spc="877" baseline="13071">
                          <a:solidFill>
                            <a:srgbClr val="7852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400" spc="-100">
                          <a:solidFill>
                            <a:srgbClr val="DCD6E4"/>
                          </a:solidFill>
                          <a:latin typeface="Verdana"/>
                          <a:cs typeface="Verdana"/>
                        </a:rPr>
                        <a:t>Reactive,</a:t>
                      </a:r>
                      <a:r>
                        <a:rPr sz="2400" spc="-275">
                          <a:solidFill>
                            <a:srgbClr val="DCD6E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spc="-80">
                          <a:solidFill>
                            <a:srgbClr val="DCD6E4"/>
                          </a:solidFill>
                          <a:latin typeface="Verdana"/>
                          <a:cs typeface="Verdana"/>
                        </a:rPr>
                        <a:t>never</a:t>
                      </a:r>
                      <a:r>
                        <a:rPr sz="2400" spc="-285">
                          <a:solidFill>
                            <a:srgbClr val="DCD6E4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sz="2400" spc="-10">
                          <a:solidFill>
                            <a:srgbClr val="DCD6E4"/>
                          </a:solidFill>
                          <a:latin typeface="Verdana"/>
                          <a:cs typeface="Verdana"/>
                        </a:rPr>
                        <a:t>preventive</a:t>
                      </a:r>
                      <a:endParaRPr sz="2400">
                        <a:latin typeface="Verdana"/>
                        <a:cs typeface="Verdana"/>
                      </a:endParaRPr>
                    </a:p>
                    <a:p>
                      <a:pPr marL="521970">
                        <a:lnSpc>
                          <a:spcPct val="100000"/>
                        </a:lnSpc>
                        <a:spcBef>
                          <a:spcPts val="1505"/>
                        </a:spcBef>
                      </a:pPr>
                      <a:r>
                        <a:rPr sz="170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r>
                        <a:rPr sz="1700" spc="-25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intervention</a:t>
                      </a:r>
                      <a:r>
                        <a:rPr sz="1700" spc="-65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arrives</a:t>
                      </a:r>
                      <a:r>
                        <a:rPr sz="1700" spc="-8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before</a:t>
                      </a:r>
                      <a:r>
                        <a:rPr sz="1700" spc="-3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sz="1700" spc="-10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700" spc="-10">
                          <a:solidFill>
                            <a:srgbClr val="DCD6E4"/>
                          </a:solidFill>
                          <a:latin typeface="Arial MT"/>
                          <a:cs typeface="Arial MT"/>
                        </a:rPr>
                        <a:t>decline.</a:t>
                      </a:r>
                      <a:endParaRPr sz="1700">
                        <a:latin typeface="Arial MT"/>
                        <a:cs typeface="Arial MT"/>
                      </a:endParaRPr>
                    </a:p>
                  </a:txBody>
                  <a:tcPr marL="0" marR="0" marT="177165" marB="0">
                    <a:lnR w="38100">
                      <a:solidFill>
                        <a:srgbClr val="7852FF"/>
                      </a:solidFill>
                      <a:prstDash val="solid"/>
                    </a:lnR>
                    <a:lnT w="9525">
                      <a:solidFill>
                        <a:srgbClr val="3A305E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512809" y="3144837"/>
            <a:ext cx="226885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35">
                <a:solidFill>
                  <a:srgbClr val="B6ACCA"/>
                </a:solidFill>
                <a:latin typeface="Tahoma"/>
                <a:cs typeface="Tahoma"/>
              </a:rPr>
              <a:t>GAPS</a:t>
            </a:r>
            <a:r>
              <a:rPr sz="1200" spc="114">
                <a:solidFill>
                  <a:srgbClr val="B6ACCA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B6ACCA"/>
                </a:solidFill>
                <a:latin typeface="Tahoma"/>
                <a:cs typeface="Tahoma"/>
              </a:rPr>
              <a:t>IN</a:t>
            </a:r>
            <a:r>
              <a:rPr sz="1200" spc="65">
                <a:solidFill>
                  <a:srgbClr val="B6ACCA"/>
                </a:solidFill>
                <a:latin typeface="Tahoma"/>
                <a:cs typeface="Tahoma"/>
              </a:rPr>
              <a:t> </a:t>
            </a:r>
            <a:r>
              <a:rPr sz="1200" spc="90">
                <a:solidFill>
                  <a:srgbClr val="B6ACCA"/>
                </a:solidFill>
                <a:latin typeface="Tahoma"/>
                <a:cs typeface="Tahoma"/>
              </a:rPr>
              <a:t>CURRENT</a:t>
            </a:r>
            <a:r>
              <a:rPr sz="1200" spc="190">
                <a:solidFill>
                  <a:srgbClr val="B6ACCA"/>
                </a:solidFill>
                <a:latin typeface="Tahoma"/>
                <a:cs typeface="Tahoma"/>
              </a:rPr>
              <a:t> </a:t>
            </a:r>
            <a:r>
              <a:rPr sz="1200" spc="60">
                <a:solidFill>
                  <a:srgbClr val="B6ACCA"/>
                </a:solidFill>
                <a:latin typeface="Tahoma"/>
                <a:cs typeface="Tahoma"/>
              </a:rPr>
              <a:t>TOOLING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12809" y="3203828"/>
            <a:ext cx="2808605" cy="160210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350" b="1" spc="229">
                <a:solidFill>
                  <a:srgbClr val="52D7FF"/>
                </a:solidFill>
                <a:latin typeface="Tahoma"/>
                <a:cs typeface="Tahoma"/>
              </a:rPr>
              <a:t>4</a:t>
            </a:r>
            <a:endParaRPr sz="6350">
              <a:latin typeface="Tahoma"/>
              <a:cs typeface="Tahoma"/>
            </a:endParaRPr>
          </a:p>
          <a:p>
            <a:pPr marL="12700" marR="5080">
              <a:lnSpc>
                <a:spcPct val="108200"/>
              </a:lnSpc>
              <a:spcBef>
                <a:spcPts val="1895"/>
              </a:spcBef>
            </a:pP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Every</a:t>
            </a:r>
            <a:r>
              <a:rPr sz="1100" spc="16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one</a:t>
            </a:r>
            <a:r>
              <a:rPr sz="1100" spc="8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75">
                <a:solidFill>
                  <a:srgbClr val="A89FBB"/>
                </a:solidFill>
                <a:latin typeface="Arial MT"/>
                <a:cs typeface="Arial MT"/>
              </a:rPr>
              <a:t>of</a:t>
            </a:r>
            <a:r>
              <a:rPr sz="1100" spc="15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them</a:t>
            </a:r>
            <a:r>
              <a:rPr sz="1100" spc="16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sits</a:t>
            </a:r>
            <a:r>
              <a:rPr sz="1100" spc="11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between</a:t>
            </a:r>
            <a:r>
              <a:rPr sz="1100" spc="15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the</a:t>
            </a:r>
            <a:r>
              <a:rPr sz="1100" spc="18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-10">
                <a:solidFill>
                  <a:srgbClr val="A89FBB"/>
                </a:solidFill>
                <a:latin typeface="Arial MT"/>
                <a:cs typeface="Arial MT"/>
              </a:rPr>
              <a:t>signal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and</a:t>
            </a:r>
            <a:r>
              <a:rPr sz="1100" spc="15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the</a:t>
            </a:r>
            <a:r>
              <a:rPr sz="1100" spc="204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person</a:t>
            </a:r>
            <a:r>
              <a:rPr sz="1100" spc="16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producing</a:t>
            </a:r>
            <a:r>
              <a:rPr sz="1100" spc="15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-25">
                <a:solidFill>
                  <a:srgbClr val="A89FBB"/>
                </a:solidFill>
                <a:latin typeface="Arial MT"/>
                <a:cs typeface="Arial MT"/>
              </a:rPr>
              <a:t>it.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97217" y="521335"/>
            <a:ext cx="10899140" cy="98933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3529"/>
              </a:lnSpc>
              <a:spcBef>
                <a:spcPts val="655"/>
              </a:spcBef>
            </a:pPr>
            <a:r>
              <a:rPr spc="225"/>
              <a:t>A</a:t>
            </a:r>
            <a:r>
              <a:rPr spc="-155"/>
              <a:t> </a:t>
            </a:r>
            <a:r>
              <a:t>system</a:t>
            </a:r>
            <a:r>
              <a:rPr spc="-130"/>
              <a:t> </a:t>
            </a:r>
            <a:r>
              <a:t>that</a:t>
            </a:r>
            <a:r>
              <a:rPr spc="-180"/>
              <a:t> </a:t>
            </a:r>
            <a:r>
              <a:rPr spc="-25"/>
              <a:t>learns</a:t>
            </a:r>
            <a:r>
              <a:rPr spc="-114"/>
              <a:t> </a:t>
            </a:r>
            <a:r>
              <a:t>your</a:t>
            </a:r>
            <a:r>
              <a:rPr spc="-170"/>
              <a:t> </a:t>
            </a:r>
            <a:r>
              <a:rPr spc="-20"/>
              <a:t>normal,</a:t>
            </a:r>
            <a:r>
              <a:rPr spc="-170"/>
              <a:t> </a:t>
            </a:r>
            <a:r>
              <a:rPr spc="50"/>
              <a:t>then</a:t>
            </a:r>
            <a:r>
              <a:rPr spc="-165"/>
              <a:t> </a:t>
            </a:r>
            <a:r>
              <a:t>watches</a:t>
            </a:r>
            <a:r>
              <a:rPr spc="-110"/>
              <a:t> </a:t>
            </a:r>
            <a:r>
              <a:rPr spc="-25"/>
              <a:t>for </a:t>
            </a:r>
            <a:r>
              <a:rPr spc="-10"/>
              <a:t>drift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7217" y="2160587"/>
            <a:ext cx="27368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-25">
                <a:solidFill>
                  <a:srgbClr val="7852FF"/>
                </a:solidFill>
                <a:latin typeface="Arial"/>
                <a:cs typeface="Arial"/>
              </a:rPr>
              <a:t>01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9600" y="2543175"/>
            <a:ext cx="1828800" cy="19050"/>
          </a:xfrm>
          <a:custGeom>
            <a:avLst/>
            <a:gdLst/>
            <a:ahLst/>
            <a:cxnLst/>
            <a:rect l="l" t="t" r="r" b="b"/>
            <a:pathLst>
              <a:path w="1828800" h="19050">
                <a:moveTo>
                  <a:pt x="1828800" y="0"/>
                </a:moveTo>
                <a:lnTo>
                  <a:pt x="0" y="0"/>
                </a:lnTo>
                <a:lnTo>
                  <a:pt x="0" y="19050"/>
                </a:lnTo>
                <a:lnTo>
                  <a:pt x="1828800" y="19050"/>
                </a:lnTo>
                <a:lnTo>
                  <a:pt x="1828800" y="0"/>
                </a:lnTo>
                <a:close/>
              </a:path>
            </a:pathLst>
          </a:custGeom>
          <a:solidFill>
            <a:srgbClr val="785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97217" y="2688272"/>
            <a:ext cx="1804035" cy="19818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10">
                <a:solidFill>
                  <a:srgbClr val="DCD6E4"/>
                </a:solidFill>
                <a:latin typeface="Verdana"/>
                <a:cs typeface="Verdana"/>
              </a:rPr>
              <a:t>Learn</a:t>
            </a:r>
            <a:endParaRPr sz="1850">
              <a:latin typeface="Verdana"/>
              <a:cs typeface="Verdana"/>
            </a:endParaRPr>
          </a:p>
          <a:p>
            <a:pPr marL="12700" marR="5080">
              <a:lnSpc>
                <a:spcPct val="117800"/>
              </a:lnSpc>
              <a:spcBef>
                <a:spcPts val="1135"/>
              </a:spcBef>
            </a:pP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Builds</a:t>
            </a:r>
            <a:r>
              <a:rPr sz="1700" spc="-7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a</a:t>
            </a:r>
            <a:r>
              <a:rPr sz="1700" spc="-4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personal behavioral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baseline</a:t>
            </a:r>
            <a:r>
              <a:rPr sz="1700" spc="-7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50">
                <a:solidFill>
                  <a:srgbClr val="DCD6E4"/>
                </a:solidFill>
                <a:latin typeface="Arial MT"/>
                <a:cs typeface="Arial MT"/>
              </a:rPr>
              <a:t>from</a:t>
            </a:r>
            <a:r>
              <a:rPr sz="1700" spc="-6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25">
                <a:solidFill>
                  <a:srgbClr val="DCD6E4"/>
                </a:solidFill>
                <a:latin typeface="Arial MT"/>
                <a:cs typeface="Arial MT"/>
              </a:rPr>
              <a:t>how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you</a:t>
            </a:r>
            <a:r>
              <a:rPr sz="1700" spc="-9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normally operate.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84804" y="2160587"/>
            <a:ext cx="27368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-25">
                <a:solidFill>
                  <a:srgbClr val="7852FF"/>
                </a:solidFill>
                <a:latin typeface="Arial"/>
                <a:cs typeface="Arial"/>
              </a:rPr>
              <a:t>02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95600" y="2543175"/>
            <a:ext cx="1828800" cy="19050"/>
          </a:xfrm>
          <a:custGeom>
            <a:avLst/>
            <a:gdLst/>
            <a:ahLst/>
            <a:cxnLst/>
            <a:rect l="l" t="t" r="r" b="b"/>
            <a:pathLst>
              <a:path w="1828800" h="19050">
                <a:moveTo>
                  <a:pt x="1828800" y="0"/>
                </a:moveTo>
                <a:lnTo>
                  <a:pt x="0" y="0"/>
                </a:lnTo>
                <a:lnTo>
                  <a:pt x="0" y="19050"/>
                </a:lnTo>
                <a:lnTo>
                  <a:pt x="1828800" y="19050"/>
                </a:lnTo>
                <a:lnTo>
                  <a:pt x="1828800" y="0"/>
                </a:lnTo>
                <a:close/>
              </a:path>
            </a:pathLst>
          </a:custGeom>
          <a:solidFill>
            <a:srgbClr val="785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884804" y="2688272"/>
            <a:ext cx="1772920" cy="22866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10">
                <a:solidFill>
                  <a:srgbClr val="DCD6E4"/>
                </a:solidFill>
                <a:latin typeface="Verdana"/>
                <a:cs typeface="Verdana"/>
              </a:rPr>
              <a:t>Monitor</a:t>
            </a:r>
            <a:endParaRPr sz="1850">
              <a:latin typeface="Verdana"/>
              <a:cs typeface="Verdana"/>
            </a:endParaRPr>
          </a:p>
          <a:p>
            <a:pPr marL="12700" marR="5080">
              <a:lnSpc>
                <a:spcPct val="117800"/>
              </a:lnSpc>
              <a:spcBef>
                <a:spcPts val="1135"/>
              </a:spcBef>
            </a:pP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Tracks</a:t>
            </a:r>
            <a:r>
              <a:rPr sz="1700" spc="-6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behavioral signals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continuously</a:t>
            </a:r>
            <a:r>
              <a:rPr sz="1700" spc="6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25">
                <a:solidFill>
                  <a:srgbClr val="DCD6E4"/>
                </a:solidFill>
                <a:latin typeface="Arial MT"/>
                <a:cs typeface="Arial MT"/>
              </a:rPr>
              <a:t>and </a:t>
            </a:r>
            <a:r>
              <a:rPr sz="1700" spc="-35">
                <a:solidFill>
                  <a:srgbClr val="DCD6E4"/>
                </a:solidFill>
                <a:latin typeface="Arial MT"/>
                <a:cs typeface="Arial MT"/>
              </a:rPr>
              <a:t>non-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invasively.</a:t>
            </a:r>
            <a:r>
              <a:rPr sz="1700" spc="-7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25">
                <a:solidFill>
                  <a:srgbClr val="DCD6E4"/>
                </a:solidFill>
                <a:latin typeface="Arial MT"/>
                <a:cs typeface="Arial MT"/>
              </a:rPr>
              <a:t>No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wearables required.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72709" y="2160587"/>
            <a:ext cx="27305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-25">
                <a:solidFill>
                  <a:srgbClr val="7852FF"/>
                </a:solidFill>
                <a:latin typeface="Arial"/>
                <a:cs typeface="Arial"/>
              </a:rPr>
              <a:t>03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181600" y="2543175"/>
            <a:ext cx="1828800" cy="19050"/>
          </a:xfrm>
          <a:custGeom>
            <a:avLst/>
            <a:gdLst/>
            <a:ahLst/>
            <a:cxnLst/>
            <a:rect l="l" t="t" r="r" b="b"/>
            <a:pathLst>
              <a:path w="1828800" h="19050">
                <a:moveTo>
                  <a:pt x="1828800" y="0"/>
                </a:moveTo>
                <a:lnTo>
                  <a:pt x="0" y="0"/>
                </a:lnTo>
                <a:lnTo>
                  <a:pt x="0" y="19050"/>
                </a:lnTo>
                <a:lnTo>
                  <a:pt x="1828800" y="19050"/>
                </a:lnTo>
                <a:lnTo>
                  <a:pt x="1828800" y="0"/>
                </a:lnTo>
                <a:close/>
              </a:path>
            </a:pathLst>
          </a:custGeom>
          <a:solidFill>
            <a:srgbClr val="785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172709" y="2688272"/>
            <a:ext cx="1814830" cy="167576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10">
                <a:solidFill>
                  <a:srgbClr val="DCD6E4"/>
                </a:solidFill>
                <a:latin typeface="Verdana"/>
                <a:cs typeface="Verdana"/>
              </a:rPr>
              <a:t>Detect</a:t>
            </a:r>
            <a:endParaRPr sz="1850">
              <a:latin typeface="Verdana"/>
              <a:cs typeface="Verdana"/>
            </a:endParaRPr>
          </a:p>
          <a:p>
            <a:pPr marL="12700" marR="5080">
              <a:lnSpc>
                <a:spcPct val="117800"/>
              </a:lnSpc>
              <a:spcBef>
                <a:spcPts val="1135"/>
              </a:spcBef>
            </a:pPr>
            <a:r>
              <a:rPr sz="1700" spc="-20">
                <a:solidFill>
                  <a:srgbClr val="DCD6E4"/>
                </a:solidFill>
                <a:latin typeface="Arial MT"/>
                <a:cs typeface="Arial MT"/>
              </a:rPr>
              <a:t>Flags</a:t>
            </a:r>
            <a:r>
              <a:rPr sz="1700" spc="-9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abnormal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patterns</a:t>
            </a:r>
            <a:r>
              <a:rPr sz="1700" spc="-3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25">
                <a:solidFill>
                  <a:srgbClr val="DCD6E4"/>
                </a:solidFill>
                <a:latin typeface="Arial MT"/>
                <a:cs typeface="Arial MT"/>
              </a:rPr>
              <a:t>as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deviation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20">
                <a:solidFill>
                  <a:srgbClr val="DCD6E4"/>
                </a:solidFill>
                <a:latin typeface="Arial MT"/>
                <a:cs typeface="Arial MT"/>
              </a:rPr>
              <a:t>from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your</a:t>
            </a:r>
            <a:r>
              <a:rPr sz="1700" spc="-1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own</a:t>
            </a:r>
            <a:r>
              <a:rPr sz="1700" spc="-8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baseline.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60233" y="2160587"/>
            <a:ext cx="273685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-25">
                <a:solidFill>
                  <a:srgbClr val="7852FF"/>
                </a:solidFill>
                <a:latin typeface="Arial"/>
                <a:cs typeface="Arial"/>
              </a:rPr>
              <a:t>04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467600" y="2543175"/>
            <a:ext cx="1828800" cy="19050"/>
          </a:xfrm>
          <a:custGeom>
            <a:avLst/>
            <a:gdLst/>
            <a:ahLst/>
            <a:cxnLst/>
            <a:rect l="l" t="t" r="r" b="b"/>
            <a:pathLst>
              <a:path w="1828800" h="19050">
                <a:moveTo>
                  <a:pt x="1828800" y="0"/>
                </a:moveTo>
                <a:lnTo>
                  <a:pt x="0" y="0"/>
                </a:lnTo>
                <a:lnTo>
                  <a:pt x="0" y="19050"/>
                </a:lnTo>
                <a:lnTo>
                  <a:pt x="1828800" y="19050"/>
                </a:lnTo>
                <a:lnTo>
                  <a:pt x="1828800" y="0"/>
                </a:lnTo>
                <a:close/>
              </a:path>
            </a:pathLst>
          </a:custGeom>
          <a:solidFill>
            <a:srgbClr val="785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460233" y="2688272"/>
            <a:ext cx="1750060" cy="1370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10">
                <a:solidFill>
                  <a:srgbClr val="DCD6E4"/>
                </a:solidFill>
                <a:latin typeface="Verdana"/>
                <a:cs typeface="Verdana"/>
              </a:rPr>
              <a:t>Predict</a:t>
            </a:r>
            <a:endParaRPr sz="1850">
              <a:latin typeface="Verdana"/>
              <a:cs typeface="Verdana"/>
            </a:endParaRPr>
          </a:p>
          <a:p>
            <a:pPr marL="12700" marR="5080">
              <a:lnSpc>
                <a:spcPct val="117800"/>
              </a:lnSpc>
              <a:spcBef>
                <a:spcPts val="1135"/>
              </a:spcBef>
            </a:pP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Forecasts</a:t>
            </a:r>
            <a:r>
              <a:rPr sz="1700" spc="-8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rising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stress and</a:t>
            </a:r>
            <a:r>
              <a:rPr sz="1700" spc="-8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fatigue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before</a:t>
            </a:r>
            <a:r>
              <a:rPr sz="1700" spc="1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it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 peaks.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48266" y="2160587"/>
            <a:ext cx="273050" cy="288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b="1" spc="-25">
                <a:solidFill>
                  <a:srgbClr val="7852FF"/>
                </a:solidFill>
                <a:latin typeface="Arial"/>
                <a:cs typeface="Arial"/>
              </a:rPr>
              <a:t>05</a:t>
            </a:r>
            <a:endParaRPr sz="17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53600" y="2543175"/>
            <a:ext cx="1828800" cy="19050"/>
          </a:xfrm>
          <a:custGeom>
            <a:avLst/>
            <a:gdLst/>
            <a:ahLst/>
            <a:cxnLst/>
            <a:rect l="l" t="t" r="r" b="b"/>
            <a:pathLst>
              <a:path w="1828800" h="19050">
                <a:moveTo>
                  <a:pt x="1828800" y="0"/>
                </a:moveTo>
                <a:lnTo>
                  <a:pt x="0" y="0"/>
                </a:lnTo>
                <a:lnTo>
                  <a:pt x="0" y="19050"/>
                </a:lnTo>
                <a:lnTo>
                  <a:pt x="1828800" y="19050"/>
                </a:lnTo>
                <a:lnTo>
                  <a:pt x="1828800" y="0"/>
                </a:lnTo>
                <a:close/>
              </a:path>
            </a:pathLst>
          </a:custGeom>
          <a:solidFill>
            <a:srgbClr val="785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748266" y="2688272"/>
            <a:ext cx="1753235" cy="167576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10">
                <a:solidFill>
                  <a:srgbClr val="DCD6E4"/>
                </a:solidFill>
                <a:latin typeface="Verdana"/>
                <a:cs typeface="Verdana"/>
              </a:rPr>
              <a:t>Intervene</a:t>
            </a:r>
            <a:endParaRPr sz="1850">
              <a:latin typeface="Verdana"/>
              <a:cs typeface="Verdana"/>
            </a:endParaRPr>
          </a:p>
          <a:p>
            <a:pPr marL="12700" marR="5080">
              <a:lnSpc>
                <a:spcPct val="117800"/>
              </a:lnSpc>
              <a:spcBef>
                <a:spcPts val="1135"/>
              </a:spcBef>
            </a:pPr>
            <a:r>
              <a:rPr sz="1700" spc="-20">
                <a:solidFill>
                  <a:srgbClr val="DCD6E4"/>
                </a:solidFill>
                <a:latin typeface="Arial MT"/>
                <a:cs typeface="Arial MT"/>
              </a:rPr>
              <a:t>Delivers</a:t>
            </a:r>
            <a:r>
              <a:rPr sz="1700" spc="-9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a</a:t>
            </a:r>
            <a:r>
              <a:rPr sz="1700" spc="-6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timely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prompt:</a:t>
            </a:r>
            <a:r>
              <a:rPr sz="1700" spc="-6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a</a:t>
            </a:r>
            <a:r>
              <a:rPr sz="1700" spc="-5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25">
                <a:solidFill>
                  <a:srgbClr val="DCD6E4"/>
                </a:solidFill>
                <a:latin typeface="Arial MT"/>
                <a:cs typeface="Arial MT"/>
              </a:rPr>
              <a:t>break,</a:t>
            </a:r>
            <a:r>
              <a:rPr sz="1700" spc="-50">
                <a:solidFill>
                  <a:srgbClr val="DCD6E4"/>
                </a:solidFill>
                <a:latin typeface="Arial MT"/>
                <a:cs typeface="Arial MT"/>
              </a:rPr>
              <a:t> a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pace</a:t>
            </a:r>
            <a:r>
              <a:rPr sz="1700" spc="-11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30">
                <a:solidFill>
                  <a:srgbClr val="DCD6E4"/>
                </a:solidFill>
                <a:latin typeface="Arial MT"/>
                <a:cs typeface="Arial MT"/>
              </a:rPr>
              <a:t>change,</a:t>
            </a:r>
            <a:r>
              <a:rPr sz="1700" spc="-6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50">
                <a:solidFill>
                  <a:srgbClr val="DCD6E4"/>
                </a:solidFill>
                <a:latin typeface="Arial MT"/>
                <a:cs typeface="Arial MT"/>
              </a:rPr>
              <a:t>a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stop.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09600" y="5709665"/>
            <a:ext cx="10972800" cy="144145"/>
            <a:chOff x="609600" y="5709665"/>
            <a:chExt cx="10972800" cy="144145"/>
          </a:xfrm>
        </p:grpSpPr>
        <p:sp>
          <p:nvSpPr>
            <p:cNvPr id="19" name="object 19"/>
            <p:cNvSpPr/>
            <p:nvPr/>
          </p:nvSpPr>
          <p:spPr>
            <a:xfrm>
              <a:off x="609600" y="5709665"/>
              <a:ext cx="10972800" cy="144145"/>
            </a:xfrm>
            <a:custGeom>
              <a:avLst/>
              <a:gdLst/>
              <a:ahLst/>
              <a:cxnLst/>
              <a:rect l="l" t="t" r="r" b="b"/>
              <a:pathLst>
                <a:path w="10972800" h="144145">
                  <a:moveTo>
                    <a:pt x="8997696" y="0"/>
                  </a:moveTo>
                  <a:lnTo>
                    <a:pt x="0" y="51435"/>
                  </a:lnTo>
                  <a:lnTo>
                    <a:pt x="0" y="92583"/>
                  </a:lnTo>
                  <a:lnTo>
                    <a:pt x="8997696" y="144018"/>
                  </a:lnTo>
                  <a:lnTo>
                    <a:pt x="10972800" y="72009"/>
                  </a:lnTo>
                  <a:lnTo>
                    <a:pt x="8997696" y="0"/>
                  </a:lnTo>
                  <a:close/>
                </a:path>
              </a:pathLst>
            </a:custGeom>
            <a:solidFill>
              <a:srgbClr val="571C9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09600" y="5743574"/>
              <a:ext cx="9601200" cy="76200"/>
            </a:xfrm>
            <a:custGeom>
              <a:avLst/>
              <a:gdLst/>
              <a:ahLst/>
              <a:cxnLst/>
              <a:rect l="l" t="t" r="r" b="b"/>
              <a:pathLst>
                <a:path w="9601200" h="76200">
                  <a:moveTo>
                    <a:pt x="9563100" y="0"/>
                  </a:moveTo>
                  <a:lnTo>
                    <a:pt x="38100" y="0"/>
                  </a:lnTo>
                  <a:lnTo>
                    <a:pt x="23268" y="2993"/>
                  </a:lnTo>
                  <a:lnTo>
                    <a:pt x="11158" y="11158"/>
                  </a:lnTo>
                  <a:lnTo>
                    <a:pt x="2993" y="23268"/>
                  </a:lnTo>
                  <a:lnTo>
                    <a:pt x="0" y="38100"/>
                  </a:lnTo>
                  <a:lnTo>
                    <a:pt x="2993" y="52931"/>
                  </a:lnTo>
                  <a:lnTo>
                    <a:pt x="11158" y="65041"/>
                  </a:lnTo>
                  <a:lnTo>
                    <a:pt x="23268" y="73206"/>
                  </a:lnTo>
                  <a:lnTo>
                    <a:pt x="38100" y="76200"/>
                  </a:lnTo>
                  <a:lnTo>
                    <a:pt x="9563100" y="76200"/>
                  </a:lnTo>
                  <a:lnTo>
                    <a:pt x="9577947" y="73206"/>
                  </a:lnTo>
                  <a:lnTo>
                    <a:pt x="9590055" y="65041"/>
                  </a:lnTo>
                  <a:lnTo>
                    <a:pt x="9598211" y="52931"/>
                  </a:lnTo>
                  <a:lnTo>
                    <a:pt x="9601200" y="38100"/>
                  </a:lnTo>
                  <a:lnTo>
                    <a:pt x="9598211" y="23268"/>
                  </a:lnTo>
                  <a:lnTo>
                    <a:pt x="9590055" y="11158"/>
                  </a:lnTo>
                  <a:lnTo>
                    <a:pt x="9577947" y="2993"/>
                  </a:lnTo>
                  <a:lnTo>
                    <a:pt x="9563100" y="0"/>
                  </a:lnTo>
                  <a:close/>
                </a:path>
              </a:pathLst>
            </a:custGeom>
            <a:solidFill>
              <a:srgbClr val="785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97217" y="6054725"/>
            <a:ext cx="618871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The</a:t>
            </a:r>
            <a:r>
              <a:rPr sz="1100" spc="14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baseline</a:t>
            </a:r>
            <a:r>
              <a:rPr sz="1100" spc="6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is</a:t>
            </a:r>
            <a:r>
              <a:rPr sz="1100" spc="8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the</a:t>
            </a:r>
            <a:r>
              <a:rPr sz="1100" spc="15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45">
                <a:solidFill>
                  <a:srgbClr val="A89FBB"/>
                </a:solidFill>
                <a:latin typeface="Arial MT"/>
                <a:cs typeface="Arial MT"/>
              </a:rPr>
              <a:t>product.</a:t>
            </a:r>
            <a:r>
              <a:rPr sz="1100" spc="15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Everything</a:t>
            </a:r>
            <a:r>
              <a:rPr sz="1100" spc="11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55">
                <a:solidFill>
                  <a:srgbClr val="A89FBB"/>
                </a:solidFill>
                <a:latin typeface="Arial MT"/>
                <a:cs typeface="Arial MT"/>
              </a:rPr>
              <a:t>after it</a:t>
            </a:r>
            <a:r>
              <a:rPr sz="1100" spc="6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is</a:t>
            </a:r>
            <a:r>
              <a:rPr sz="1100" spc="8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50">
                <a:solidFill>
                  <a:srgbClr val="A89FBB"/>
                </a:solidFill>
                <a:latin typeface="Arial MT"/>
                <a:cs typeface="Arial MT"/>
              </a:rPr>
              <a:t>comparison</a:t>
            </a:r>
            <a:r>
              <a:rPr sz="1100" spc="12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45">
                <a:solidFill>
                  <a:srgbClr val="A89FBB"/>
                </a:solidFill>
                <a:latin typeface="Arial MT"/>
                <a:cs typeface="Arial MT"/>
              </a:rPr>
              <a:t>against</a:t>
            </a:r>
            <a:r>
              <a:rPr sz="1100" spc="6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a</a:t>
            </a:r>
            <a:r>
              <a:rPr sz="1100" spc="13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person's</a:t>
            </a:r>
            <a:r>
              <a:rPr sz="1100" spc="8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50">
                <a:solidFill>
                  <a:srgbClr val="A89FBB"/>
                </a:solidFill>
                <a:latin typeface="Arial MT"/>
                <a:cs typeface="Arial MT"/>
              </a:rPr>
              <a:t>own</a:t>
            </a:r>
            <a:r>
              <a:rPr sz="1100" spc="12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-10">
                <a:solidFill>
                  <a:srgbClr val="A89FBB"/>
                </a:solidFill>
                <a:latin typeface="Arial MT"/>
                <a:cs typeface="Arial MT"/>
              </a:rPr>
              <a:t>record.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 spd="slow">
    <p:randomBa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467225" cy="3429000"/>
          </a:xfrm>
          <a:custGeom>
            <a:avLst/>
            <a:gdLst/>
            <a:ahLst/>
            <a:cxnLst/>
            <a:rect l="l" t="t" r="r" b="b"/>
            <a:pathLst>
              <a:path w="4467225" h="3429000">
                <a:moveTo>
                  <a:pt x="4467225" y="0"/>
                </a:moveTo>
                <a:lnTo>
                  <a:pt x="26972" y="0"/>
                </a:lnTo>
                <a:lnTo>
                  <a:pt x="16473" y="2119"/>
                </a:lnTo>
                <a:lnTo>
                  <a:pt x="7900" y="7905"/>
                </a:lnTo>
                <a:lnTo>
                  <a:pt x="2119" y="16502"/>
                </a:lnTo>
                <a:lnTo>
                  <a:pt x="0" y="27050"/>
                </a:lnTo>
                <a:lnTo>
                  <a:pt x="0" y="3429000"/>
                </a:lnTo>
                <a:lnTo>
                  <a:pt x="4467225" y="3429000"/>
                </a:lnTo>
                <a:lnTo>
                  <a:pt x="4467225" y="0"/>
                </a:lnTo>
                <a:close/>
              </a:path>
            </a:pathLst>
          </a:custGeom>
          <a:solidFill>
            <a:srgbClr val="1711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8617" y="863028"/>
            <a:ext cx="16243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00">
                <a:solidFill>
                  <a:srgbClr val="DCD6E4"/>
                </a:solidFill>
                <a:latin typeface="Tahoma"/>
                <a:cs typeface="Tahoma"/>
              </a:rPr>
              <a:t>EVALUATION</a:t>
            </a:r>
            <a:r>
              <a:rPr sz="1200" spc="140">
                <a:solidFill>
                  <a:srgbClr val="DCD6E4"/>
                </a:solidFill>
                <a:latin typeface="Tahoma"/>
                <a:cs typeface="Tahoma"/>
              </a:rPr>
              <a:t> </a:t>
            </a:r>
            <a:r>
              <a:rPr sz="1200" spc="90">
                <a:solidFill>
                  <a:srgbClr val="DCD6E4"/>
                </a:solidFill>
                <a:latin typeface="Tahoma"/>
                <a:cs typeface="Tahoma"/>
              </a:rPr>
              <a:t>LAY</a:t>
            </a:r>
            <a:r>
              <a:rPr sz="1200" spc="-210">
                <a:solidFill>
                  <a:srgbClr val="DCD6E4"/>
                </a:solidFill>
                <a:latin typeface="Tahoma"/>
                <a:cs typeface="Tahoma"/>
              </a:rPr>
              <a:t> </a:t>
            </a:r>
            <a:r>
              <a:rPr sz="1200" spc="-25">
                <a:solidFill>
                  <a:srgbClr val="DCD6E4"/>
                </a:solidFill>
                <a:latin typeface="Tahoma"/>
                <a:cs typeface="Tahoma"/>
              </a:rPr>
              <a:t>ER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68617" y="1074674"/>
            <a:ext cx="3439795" cy="144716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ct val="88700"/>
              </a:lnSpc>
              <a:spcBef>
                <a:spcPts val="585"/>
              </a:spcBef>
            </a:pPr>
            <a:r>
              <a:rPr spc="-75">
                <a:solidFill>
                  <a:srgbClr val="DCD6E4"/>
                </a:solidFill>
              </a:rPr>
              <a:t>PRISM</a:t>
            </a:r>
            <a:r>
              <a:rPr spc="-175">
                <a:solidFill>
                  <a:srgbClr val="DCD6E4"/>
                </a:solidFill>
              </a:rPr>
              <a:t> </a:t>
            </a:r>
            <a:r>
              <a:rPr spc="-50">
                <a:solidFill>
                  <a:srgbClr val="DCD6E4"/>
                </a:solidFill>
              </a:rPr>
              <a:t>is</a:t>
            </a:r>
            <a:r>
              <a:rPr spc="-185">
                <a:solidFill>
                  <a:srgbClr val="DCD6E4"/>
                </a:solidFill>
              </a:rPr>
              <a:t> </a:t>
            </a:r>
            <a:r>
              <a:rPr spc="-25">
                <a:solidFill>
                  <a:srgbClr val="DCD6E4"/>
                </a:solidFill>
              </a:rPr>
              <a:t>the </a:t>
            </a:r>
            <a:r>
              <a:rPr spc="-50">
                <a:solidFill>
                  <a:srgbClr val="DCD6E4"/>
                </a:solidFill>
              </a:rPr>
              <a:t>layer</a:t>
            </a:r>
            <a:r>
              <a:rPr spc="-150">
                <a:solidFill>
                  <a:srgbClr val="DCD6E4"/>
                </a:solidFill>
              </a:rPr>
              <a:t> </a:t>
            </a:r>
            <a:r>
              <a:rPr>
                <a:solidFill>
                  <a:srgbClr val="DCD6E4"/>
                </a:solidFill>
              </a:rPr>
              <a:t>that</a:t>
            </a:r>
            <a:r>
              <a:rPr spc="-240">
                <a:solidFill>
                  <a:srgbClr val="DCD6E4"/>
                </a:solidFill>
              </a:rPr>
              <a:t> </a:t>
            </a:r>
            <a:r>
              <a:rPr spc="-10">
                <a:solidFill>
                  <a:srgbClr val="DCD6E4"/>
                </a:solidFill>
              </a:rPr>
              <a:t>keeps </a:t>
            </a:r>
            <a:r>
              <a:rPr>
                <a:solidFill>
                  <a:srgbClr val="DCD6E4"/>
                </a:solidFill>
              </a:rPr>
              <a:t>the</a:t>
            </a:r>
            <a:r>
              <a:rPr spc="-165">
                <a:solidFill>
                  <a:srgbClr val="DCD6E4"/>
                </a:solidFill>
              </a:rPr>
              <a:t> </a:t>
            </a:r>
            <a:r>
              <a:rPr spc="-195">
                <a:solidFill>
                  <a:srgbClr val="DCD6E4"/>
                </a:solidFill>
              </a:rPr>
              <a:t>AI</a:t>
            </a:r>
            <a:r>
              <a:rPr spc="-105">
                <a:solidFill>
                  <a:srgbClr val="DCD6E4"/>
                </a:solidFill>
              </a:rPr>
              <a:t> </a:t>
            </a:r>
            <a:r>
              <a:rPr spc="-10">
                <a:solidFill>
                  <a:srgbClr val="DCD6E4"/>
                </a:solidFill>
              </a:rPr>
              <a:t>honest</a:t>
            </a:r>
          </a:p>
        </p:txBody>
      </p:sp>
      <p:pic>
        <p:nvPicPr>
          <p:cNvPr id="5" name="object 5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2025" y="609600"/>
            <a:ext cx="438150" cy="42862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766055" y="1188257"/>
            <a:ext cx="2767965" cy="161036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2400" spc="-10">
                <a:solidFill>
                  <a:srgbClr val="DCD6E4"/>
                </a:solidFill>
                <a:latin typeface="Verdana"/>
                <a:cs typeface="Verdana"/>
              </a:rPr>
              <a:t>Continuous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2400" spc="-10">
                <a:solidFill>
                  <a:srgbClr val="DCD6E4"/>
                </a:solidFill>
                <a:latin typeface="Verdana"/>
                <a:cs typeface="Verdana"/>
              </a:rPr>
              <a:t>evaluation</a:t>
            </a:r>
            <a:endParaRPr sz="2400">
              <a:latin typeface="Verdana"/>
              <a:cs typeface="Verdana"/>
            </a:endParaRPr>
          </a:p>
          <a:p>
            <a:pPr marL="12700" marR="5080">
              <a:lnSpc>
                <a:spcPct val="117700"/>
              </a:lnSpc>
              <a:spcBef>
                <a:spcPts val="1215"/>
              </a:spcBef>
            </a:pP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Monitors</a:t>
            </a:r>
            <a:r>
              <a:rPr sz="1700" spc="-3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and</a:t>
            </a:r>
            <a:r>
              <a:rPr sz="1700" spc="5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scores</a:t>
            </a:r>
            <a:r>
              <a:rPr sz="1700" spc="-3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the</a:t>
            </a:r>
            <a:r>
              <a:rPr sz="1700" spc="3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20">
                <a:solidFill>
                  <a:srgbClr val="DCD6E4"/>
                </a:solidFill>
                <a:latin typeface="Arial MT"/>
                <a:cs typeface="Arial MT"/>
              </a:rPr>
              <a:t>AI's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predictions</a:t>
            </a:r>
            <a:r>
              <a:rPr sz="1700" spc="-1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as</a:t>
            </a:r>
            <a:r>
              <a:rPr sz="1700" spc="-1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they</a:t>
            </a:r>
            <a:r>
              <a:rPr sz="1700" spc="-1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happen.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7" name="object 7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39175" y="666750"/>
            <a:ext cx="428625" cy="42862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629650" y="1287144"/>
            <a:ext cx="2887345" cy="1457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45">
                <a:solidFill>
                  <a:srgbClr val="DCD6E4"/>
                </a:solidFill>
                <a:latin typeface="Verdana"/>
                <a:cs typeface="Verdana"/>
              </a:rPr>
              <a:t>Failure</a:t>
            </a:r>
            <a:r>
              <a:rPr sz="2400" spc="-295">
                <a:solidFill>
                  <a:srgbClr val="DCD6E4"/>
                </a:solidFill>
                <a:latin typeface="Verdana"/>
                <a:cs typeface="Verdana"/>
              </a:rPr>
              <a:t> </a:t>
            </a:r>
            <a:r>
              <a:rPr sz="2400" spc="-10">
                <a:solidFill>
                  <a:srgbClr val="DCD6E4"/>
                </a:solidFill>
                <a:latin typeface="Verdana"/>
                <a:cs typeface="Verdana"/>
              </a:rPr>
              <a:t>detection</a:t>
            </a:r>
            <a:endParaRPr sz="2400">
              <a:latin typeface="Verdana"/>
              <a:cs typeface="Verdana"/>
            </a:endParaRPr>
          </a:p>
          <a:p>
            <a:pPr marL="12700" marR="5080">
              <a:lnSpc>
                <a:spcPct val="117800"/>
              </a:lnSpc>
              <a:spcBef>
                <a:spcPts val="1175"/>
              </a:spcBef>
            </a:pPr>
            <a:r>
              <a:rPr sz="1700" spc="-20">
                <a:solidFill>
                  <a:srgbClr val="DCD6E4"/>
                </a:solidFill>
                <a:latin typeface="Arial MT"/>
                <a:cs typeface="Arial MT"/>
              </a:rPr>
              <a:t>Catches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incorrect</a:t>
            </a:r>
            <a:r>
              <a:rPr sz="1700" spc="3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predictions,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missed</a:t>
            </a:r>
            <a:r>
              <a:rPr sz="1700" spc="-6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warnings,</a:t>
            </a:r>
            <a:r>
              <a:rPr sz="1700" spc="-3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and</a:t>
            </a:r>
            <a:r>
              <a:rPr sz="1700" spc="1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20">
                <a:solidFill>
                  <a:srgbClr val="DCD6E4"/>
                </a:solidFill>
                <a:latin typeface="Arial MT"/>
                <a:cs typeface="Arial MT"/>
              </a:rPr>
              <a:t>false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alarms.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429000"/>
            <a:ext cx="4467225" cy="3429000"/>
          </a:xfrm>
          <a:custGeom>
            <a:avLst/>
            <a:gdLst/>
            <a:ahLst/>
            <a:cxnLst/>
            <a:rect l="l" t="t" r="r" b="b"/>
            <a:pathLst>
              <a:path w="4467225" h="3429000">
                <a:moveTo>
                  <a:pt x="4467225" y="0"/>
                </a:moveTo>
                <a:lnTo>
                  <a:pt x="0" y="0"/>
                </a:lnTo>
                <a:lnTo>
                  <a:pt x="0" y="3402008"/>
                </a:lnTo>
                <a:lnTo>
                  <a:pt x="2119" y="3412514"/>
                </a:lnTo>
                <a:lnTo>
                  <a:pt x="7900" y="3421094"/>
                </a:lnTo>
                <a:lnTo>
                  <a:pt x="16473" y="3426878"/>
                </a:lnTo>
                <a:lnTo>
                  <a:pt x="26972" y="3429000"/>
                </a:lnTo>
                <a:lnTo>
                  <a:pt x="4467225" y="3429000"/>
                </a:lnTo>
                <a:lnTo>
                  <a:pt x="4467225" y="0"/>
                </a:lnTo>
                <a:close/>
              </a:path>
            </a:pathLst>
          </a:custGeom>
          <a:solidFill>
            <a:srgbClr val="1711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92784" y="4607369"/>
            <a:ext cx="2979420" cy="998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200"/>
              </a:lnSpc>
              <a:spcBef>
                <a:spcPts val="100"/>
              </a:spcBef>
            </a:pPr>
            <a:r>
              <a:rPr sz="1800">
                <a:solidFill>
                  <a:srgbClr val="DCD6E4"/>
                </a:solidFill>
                <a:latin typeface="Arial MT"/>
                <a:cs typeface="Arial MT"/>
              </a:rPr>
              <a:t>A</a:t>
            </a:r>
            <a:r>
              <a:rPr sz="1800" spc="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DCD6E4"/>
                </a:solidFill>
                <a:latin typeface="Arial MT"/>
                <a:cs typeface="Arial MT"/>
              </a:rPr>
              <a:t>health</a:t>
            </a:r>
            <a:r>
              <a:rPr sz="1800" spc="-3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DCD6E4"/>
                </a:solidFill>
                <a:latin typeface="Arial MT"/>
                <a:cs typeface="Arial MT"/>
              </a:rPr>
              <a:t>system</a:t>
            </a:r>
            <a:r>
              <a:rPr sz="1800" spc="-1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DCD6E4"/>
                </a:solidFill>
                <a:latin typeface="Arial MT"/>
                <a:cs typeface="Arial MT"/>
              </a:rPr>
              <a:t>that</a:t>
            </a:r>
            <a:r>
              <a:rPr sz="1800" spc="-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800" spc="-10">
                <a:solidFill>
                  <a:srgbClr val="DCD6E4"/>
                </a:solidFill>
                <a:latin typeface="Arial MT"/>
                <a:cs typeface="Arial MT"/>
              </a:rPr>
              <a:t>quietly guesses</a:t>
            </a:r>
            <a:r>
              <a:rPr sz="1800" spc="-4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DCD6E4"/>
                </a:solidFill>
                <a:latin typeface="Arial MT"/>
                <a:cs typeface="Arial MT"/>
              </a:rPr>
              <a:t>wrong</a:t>
            </a:r>
            <a:r>
              <a:rPr sz="1800" spc="2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DCD6E4"/>
                </a:solidFill>
                <a:latin typeface="Arial MT"/>
                <a:cs typeface="Arial MT"/>
              </a:rPr>
              <a:t>is</a:t>
            </a:r>
            <a:r>
              <a:rPr sz="1800" spc="-4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800">
                <a:solidFill>
                  <a:srgbClr val="DCD6E4"/>
                </a:solidFill>
                <a:latin typeface="Arial MT"/>
                <a:cs typeface="Arial MT"/>
              </a:rPr>
              <a:t>worse</a:t>
            </a:r>
            <a:r>
              <a:rPr sz="1800" spc="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800" spc="-20">
                <a:solidFill>
                  <a:srgbClr val="DCD6E4"/>
                </a:solidFill>
                <a:latin typeface="Arial MT"/>
                <a:cs typeface="Arial MT"/>
              </a:rPr>
              <a:t>than </a:t>
            </a:r>
            <a:r>
              <a:rPr sz="1800" spc="-10">
                <a:solidFill>
                  <a:srgbClr val="DCD6E4"/>
                </a:solidFill>
                <a:latin typeface="Arial MT"/>
                <a:cs typeface="Arial MT"/>
              </a:rPr>
              <a:t>none.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1" name="object 11" descr="preencoded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48225" y="4248150"/>
            <a:ext cx="438150" cy="428625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409575" y="4597400"/>
                </a:moveTo>
                <a:lnTo>
                  <a:pt x="403174" y="4591050"/>
                </a:lnTo>
                <a:lnTo>
                  <a:pt x="387400" y="4591050"/>
                </a:lnTo>
                <a:lnTo>
                  <a:pt x="381000" y="4597400"/>
                </a:lnTo>
                <a:lnTo>
                  <a:pt x="381000" y="4605274"/>
                </a:lnTo>
                <a:lnTo>
                  <a:pt x="381000" y="5689549"/>
                </a:lnTo>
                <a:lnTo>
                  <a:pt x="387400" y="5695950"/>
                </a:lnTo>
                <a:lnTo>
                  <a:pt x="403174" y="5695950"/>
                </a:lnTo>
                <a:lnTo>
                  <a:pt x="409575" y="5689549"/>
                </a:lnTo>
                <a:lnTo>
                  <a:pt x="409575" y="4597400"/>
                </a:lnTo>
                <a:close/>
              </a:path>
              <a:path w="12192000" h="6858000">
                <a:moveTo>
                  <a:pt x="12192000" y="3409950"/>
                </a:moveTo>
                <a:lnTo>
                  <a:pt x="8353425" y="3409950"/>
                </a:lnTo>
                <a:lnTo>
                  <a:pt x="8353425" y="0"/>
                </a:lnTo>
                <a:lnTo>
                  <a:pt x="8315325" y="0"/>
                </a:lnTo>
                <a:lnTo>
                  <a:pt x="8315325" y="3409950"/>
                </a:lnTo>
                <a:lnTo>
                  <a:pt x="4486275" y="3409950"/>
                </a:lnTo>
                <a:lnTo>
                  <a:pt x="4486275" y="0"/>
                </a:lnTo>
                <a:lnTo>
                  <a:pt x="4448175" y="0"/>
                </a:lnTo>
                <a:lnTo>
                  <a:pt x="4448175" y="3409950"/>
                </a:lnTo>
                <a:lnTo>
                  <a:pt x="0" y="3409950"/>
                </a:lnTo>
                <a:lnTo>
                  <a:pt x="0" y="3448050"/>
                </a:lnTo>
                <a:lnTo>
                  <a:pt x="4448175" y="3448050"/>
                </a:lnTo>
                <a:lnTo>
                  <a:pt x="4448175" y="6858000"/>
                </a:lnTo>
                <a:lnTo>
                  <a:pt x="4486275" y="6858000"/>
                </a:lnTo>
                <a:lnTo>
                  <a:pt x="4486275" y="3448050"/>
                </a:lnTo>
                <a:lnTo>
                  <a:pt x="12192000" y="3448050"/>
                </a:lnTo>
                <a:lnTo>
                  <a:pt x="12192000" y="3409950"/>
                </a:lnTo>
                <a:close/>
              </a:path>
            </a:pathLst>
          </a:custGeom>
          <a:solidFill>
            <a:srgbClr val="785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842128" y="4872672"/>
            <a:ext cx="6462395" cy="1152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>
                <a:solidFill>
                  <a:srgbClr val="DCD6E4"/>
                </a:solidFill>
                <a:latin typeface="Verdana"/>
                <a:cs typeface="Verdana"/>
              </a:rPr>
              <a:t>Feedback</a:t>
            </a:r>
            <a:r>
              <a:rPr sz="2400" spc="-325">
                <a:solidFill>
                  <a:srgbClr val="DCD6E4"/>
                </a:solidFill>
                <a:latin typeface="Verdana"/>
                <a:cs typeface="Verdana"/>
              </a:rPr>
              <a:t> </a:t>
            </a:r>
            <a:r>
              <a:rPr sz="2400" spc="-20">
                <a:solidFill>
                  <a:srgbClr val="DCD6E4"/>
                </a:solidFill>
                <a:latin typeface="Verdana"/>
                <a:cs typeface="Verdana"/>
              </a:rPr>
              <a:t>loop</a:t>
            </a:r>
            <a:endParaRPr sz="2400">
              <a:latin typeface="Verdana"/>
              <a:cs typeface="Verdana"/>
            </a:endParaRPr>
          </a:p>
          <a:p>
            <a:pPr marL="12700" marR="5080">
              <a:lnSpc>
                <a:spcPct val="117900"/>
              </a:lnSpc>
              <a:spcBef>
                <a:spcPts val="1175"/>
              </a:spcBef>
            </a:pPr>
            <a:r>
              <a:rPr sz="1700" spc="-25">
                <a:solidFill>
                  <a:srgbClr val="DCD6E4"/>
                </a:solidFill>
                <a:latin typeface="Arial MT"/>
                <a:cs typeface="Arial MT"/>
              </a:rPr>
              <a:t>Routes </a:t>
            </a:r>
            <a:r>
              <a:rPr sz="1700" spc="-30">
                <a:solidFill>
                  <a:srgbClr val="DCD6E4"/>
                </a:solidFill>
                <a:latin typeface="Arial MT"/>
                <a:cs typeface="Arial MT"/>
              </a:rPr>
              <a:t>every</a:t>
            </a:r>
            <a:r>
              <a:rPr sz="1700" spc="-2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failure</a:t>
            </a:r>
            <a:r>
              <a:rPr sz="1700" spc="-4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back as</a:t>
            </a:r>
            <a:r>
              <a:rPr sz="1700" spc="-2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signal</a:t>
            </a:r>
            <a:r>
              <a:rPr sz="1700" spc="1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55">
                <a:solidFill>
                  <a:srgbClr val="DCD6E4"/>
                </a:solidFill>
                <a:latin typeface="Arial MT"/>
                <a:cs typeface="Arial MT"/>
              </a:rPr>
              <a:t>for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improving</a:t>
            </a:r>
            <a:r>
              <a:rPr sz="1700" spc="-2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the</a:t>
            </a:r>
            <a:r>
              <a:rPr sz="1700" spc="-4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model.</a:t>
            </a:r>
            <a:r>
              <a:rPr sz="1700" spc="-3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20">
                <a:solidFill>
                  <a:srgbClr val="DCD6E4"/>
                </a:solidFill>
                <a:latin typeface="Arial MT"/>
                <a:cs typeface="Arial MT"/>
              </a:rPr>
              <a:t>PRISM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makes</a:t>
            </a:r>
            <a:r>
              <a:rPr sz="1700" spc="-6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the </a:t>
            </a:r>
            <a:r>
              <a:rPr sz="1700" spc="-20">
                <a:solidFill>
                  <a:srgbClr val="DCD6E4"/>
                </a:solidFill>
                <a:latin typeface="Arial MT"/>
                <a:cs typeface="Arial MT"/>
              </a:rPr>
              <a:t>AI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 accountable</a:t>
            </a:r>
            <a:r>
              <a:rPr sz="1700" spc="-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to</a:t>
            </a:r>
            <a:r>
              <a:rPr sz="1700" spc="1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50">
                <a:solidFill>
                  <a:srgbClr val="DCD6E4"/>
                </a:solidFill>
                <a:latin typeface="Arial MT"/>
                <a:cs typeface="Arial MT"/>
              </a:rPr>
              <a:t>its</a:t>
            </a:r>
            <a:r>
              <a:rPr sz="1700" spc="-5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own</a:t>
            </a:r>
            <a:r>
              <a:rPr sz="1700" spc="-4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record.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/>
              <a:t>Signal</a:t>
            </a:r>
            <a:r>
              <a:rPr spc="-180"/>
              <a:t> </a:t>
            </a:r>
            <a:r>
              <a:t>to</a:t>
            </a:r>
            <a:r>
              <a:rPr spc="-105"/>
              <a:t> </a:t>
            </a:r>
            <a:r>
              <a:rPr spc="-40"/>
              <a:t>intervention,</a:t>
            </a:r>
            <a:r>
              <a:rPr spc="-180"/>
              <a:t> </a:t>
            </a:r>
            <a:r>
              <a:rPr spc="100"/>
              <a:t>end</a:t>
            </a:r>
            <a:r>
              <a:rPr spc="-170"/>
              <a:t> </a:t>
            </a:r>
            <a:r>
              <a:t>to</a:t>
            </a:r>
            <a:r>
              <a:rPr spc="-105"/>
              <a:t> </a:t>
            </a:r>
            <a:r>
              <a:rPr spc="50"/>
              <a:t>end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7217" y="1375786"/>
            <a:ext cx="1673860" cy="115316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700" b="1" spc="-50">
                <a:solidFill>
                  <a:srgbClr val="7852FF"/>
                </a:solidFill>
                <a:latin typeface="Arial"/>
                <a:cs typeface="Arial"/>
              </a:rPr>
              <a:t>1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850">
                <a:solidFill>
                  <a:srgbClr val="DCD6E4"/>
                </a:solidFill>
                <a:latin typeface="Verdana"/>
                <a:cs typeface="Verdana"/>
              </a:rPr>
              <a:t>Digital</a:t>
            </a:r>
            <a:r>
              <a:rPr sz="1850" spc="-195">
                <a:solidFill>
                  <a:srgbClr val="DCD6E4"/>
                </a:solidFill>
                <a:latin typeface="Verdana"/>
                <a:cs typeface="Verdana"/>
              </a:rPr>
              <a:t> </a:t>
            </a:r>
            <a:r>
              <a:rPr sz="1850" spc="-25">
                <a:solidFill>
                  <a:srgbClr val="DCD6E4"/>
                </a:solidFill>
                <a:latin typeface="Verdana"/>
                <a:cs typeface="Verdana"/>
              </a:rPr>
              <a:t>activity</a:t>
            </a:r>
            <a:endParaRPr sz="1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The</a:t>
            </a:r>
            <a:r>
              <a:rPr sz="1100" spc="17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live</a:t>
            </a:r>
            <a:r>
              <a:rPr sz="1100" spc="17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session</a:t>
            </a:r>
            <a:r>
              <a:rPr sz="1100" spc="14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-10">
                <a:solidFill>
                  <a:srgbClr val="A89FBB"/>
                </a:solidFill>
                <a:latin typeface="Arial MT"/>
                <a:cs typeface="Arial MT"/>
              </a:rPr>
              <a:t>itself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23845" y="1375786"/>
            <a:ext cx="2117725" cy="115316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700" b="1" spc="-50">
                <a:solidFill>
                  <a:srgbClr val="7852FF"/>
                </a:solidFill>
                <a:latin typeface="Arial"/>
                <a:cs typeface="Arial"/>
              </a:rPr>
              <a:t>2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850" spc="-20">
                <a:solidFill>
                  <a:srgbClr val="DCD6E4"/>
                </a:solidFill>
                <a:latin typeface="Verdana"/>
                <a:cs typeface="Verdana"/>
              </a:rPr>
              <a:t>Behavioral</a:t>
            </a:r>
            <a:r>
              <a:rPr sz="1850" spc="-180">
                <a:solidFill>
                  <a:srgbClr val="DCD6E4"/>
                </a:solidFill>
                <a:latin typeface="Verdana"/>
                <a:cs typeface="Verdana"/>
              </a:rPr>
              <a:t> </a:t>
            </a:r>
            <a:r>
              <a:rPr sz="1850" spc="-10">
                <a:solidFill>
                  <a:srgbClr val="DCD6E4"/>
                </a:solidFill>
                <a:latin typeface="Verdana"/>
                <a:cs typeface="Verdana"/>
              </a:rPr>
              <a:t>signals</a:t>
            </a:r>
            <a:endParaRPr sz="1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Pace,</a:t>
            </a:r>
            <a:r>
              <a:rPr sz="1100" spc="12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input,</a:t>
            </a:r>
            <a:r>
              <a:rPr sz="1100" spc="12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error,</a:t>
            </a:r>
            <a:r>
              <a:rPr sz="1100" spc="12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40">
                <a:solidFill>
                  <a:srgbClr val="A89FBB"/>
                </a:solidFill>
                <a:latin typeface="Arial MT"/>
                <a:cs typeface="Arial MT"/>
              </a:rPr>
              <a:t>rhythm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57775" y="1333500"/>
            <a:ext cx="2076450" cy="1943100"/>
          </a:xfrm>
          <a:prstGeom prst="rect">
            <a:avLst/>
          </a:prstGeom>
          <a:solidFill>
            <a:srgbClr val="52D7FF"/>
          </a:solidFill>
        </p:spPr>
        <p:txBody>
          <a:bodyPr vert="horz" wrap="square" lIns="0" tIns="164465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1295"/>
              </a:spcBef>
            </a:pPr>
            <a:r>
              <a:rPr sz="1700" b="1" spc="-50">
                <a:latin typeface="Arial"/>
                <a:cs typeface="Arial"/>
              </a:rPr>
              <a:t>3</a:t>
            </a:r>
            <a:endParaRPr sz="1700">
              <a:latin typeface="Arial"/>
              <a:cs typeface="Arial"/>
            </a:endParaRPr>
          </a:p>
          <a:p>
            <a:pPr marL="233679">
              <a:lnSpc>
                <a:spcPct val="100000"/>
              </a:lnSpc>
              <a:spcBef>
                <a:spcPts val="940"/>
              </a:spcBef>
            </a:pPr>
            <a:r>
              <a:rPr sz="1850" spc="-165">
                <a:latin typeface="Verdana"/>
                <a:cs typeface="Verdana"/>
              </a:rPr>
              <a:t>AI,</a:t>
            </a:r>
            <a:r>
              <a:rPr sz="1850" spc="-275">
                <a:latin typeface="Verdana"/>
                <a:cs typeface="Verdana"/>
              </a:rPr>
              <a:t> </a:t>
            </a:r>
            <a:r>
              <a:rPr sz="1850" spc="-20">
                <a:latin typeface="Verdana"/>
                <a:cs typeface="Verdana"/>
              </a:rPr>
              <a:t>RAG,</a:t>
            </a:r>
            <a:endParaRPr sz="1850">
              <a:latin typeface="Verdana"/>
              <a:cs typeface="Verdana"/>
            </a:endParaRPr>
          </a:p>
          <a:p>
            <a:pPr marL="233679">
              <a:lnSpc>
                <a:spcPct val="100000"/>
              </a:lnSpc>
              <a:spcBef>
                <a:spcPts val="330"/>
              </a:spcBef>
            </a:pPr>
            <a:r>
              <a:rPr sz="1850">
                <a:latin typeface="Verdana"/>
                <a:cs typeface="Verdana"/>
              </a:rPr>
              <a:t>agent</a:t>
            </a:r>
            <a:r>
              <a:rPr sz="1850" spc="-100">
                <a:latin typeface="Verdana"/>
                <a:cs typeface="Verdana"/>
              </a:rPr>
              <a:t> </a:t>
            </a:r>
            <a:r>
              <a:rPr sz="1850" spc="-20">
                <a:latin typeface="Verdana"/>
                <a:cs typeface="Verdana"/>
              </a:rPr>
              <a:t>layer</a:t>
            </a:r>
            <a:endParaRPr sz="1850">
              <a:latin typeface="Verdana"/>
              <a:cs typeface="Verdana"/>
            </a:endParaRPr>
          </a:p>
          <a:p>
            <a:pPr marL="233679" marR="272415">
              <a:lnSpc>
                <a:spcPct val="108200"/>
              </a:lnSpc>
              <a:spcBef>
                <a:spcPts val="1420"/>
              </a:spcBef>
            </a:pPr>
            <a:r>
              <a:rPr sz="1100" spc="10">
                <a:latin typeface="Arial MT"/>
                <a:cs typeface="Arial MT"/>
              </a:rPr>
              <a:t>Interprets</a:t>
            </a:r>
            <a:r>
              <a:rPr sz="1100" spc="175">
                <a:latin typeface="Arial MT"/>
                <a:cs typeface="Arial MT"/>
              </a:rPr>
              <a:t> </a:t>
            </a:r>
            <a:r>
              <a:rPr sz="1100" spc="10">
                <a:latin typeface="Arial MT"/>
                <a:cs typeface="Arial MT"/>
              </a:rPr>
              <a:t>the</a:t>
            </a:r>
            <a:r>
              <a:rPr sz="1100" spc="270">
                <a:latin typeface="Arial MT"/>
                <a:cs typeface="Arial MT"/>
              </a:rPr>
              <a:t> </a:t>
            </a:r>
            <a:r>
              <a:rPr sz="1100" spc="10">
                <a:latin typeface="Arial MT"/>
                <a:cs typeface="Arial MT"/>
              </a:rPr>
              <a:t>stream</a:t>
            </a:r>
            <a:r>
              <a:rPr sz="1100" spc="245">
                <a:latin typeface="Arial MT"/>
                <a:cs typeface="Arial MT"/>
              </a:rPr>
              <a:t> </a:t>
            </a:r>
            <a:r>
              <a:rPr sz="1100" spc="-25">
                <a:latin typeface="Arial MT"/>
                <a:cs typeface="Arial MT"/>
              </a:rPr>
              <a:t>in </a:t>
            </a:r>
            <a:r>
              <a:rPr sz="1100" spc="45">
                <a:latin typeface="Arial MT"/>
                <a:cs typeface="Arial MT"/>
              </a:rPr>
              <a:t>context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77481" y="1375786"/>
            <a:ext cx="2057400" cy="148209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700" b="1" spc="-50">
                <a:solidFill>
                  <a:srgbClr val="7852FF"/>
                </a:solidFill>
                <a:latin typeface="Arial"/>
                <a:cs typeface="Arial"/>
              </a:rPr>
              <a:t>4</a:t>
            </a:r>
            <a:endParaRPr sz="1700">
              <a:latin typeface="Arial"/>
              <a:cs typeface="Arial"/>
            </a:endParaRPr>
          </a:p>
          <a:p>
            <a:pPr marL="12700" marR="646430">
              <a:lnSpc>
                <a:spcPct val="114999"/>
              </a:lnSpc>
              <a:spcBef>
                <a:spcPts val="610"/>
              </a:spcBef>
            </a:pPr>
            <a:r>
              <a:rPr sz="1850" spc="-10">
                <a:solidFill>
                  <a:srgbClr val="DCD6E4"/>
                </a:solidFill>
                <a:latin typeface="Verdana"/>
                <a:cs typeface="Verdana"/>
              </a:rPr>
              <a:t>Baseline comparison</a:t>
            </a:r>
            <a:endParaRPr sz="1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Measured</a:t>
            </a:r>
            <a:r>
              <a:rPr sz="1100" spc="18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against</a:t>
            </a:r>
            <a:r>
              <a:rPr sz="1100" spc="14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your</a:t>
            </a:r>
            <a:r>
              <a:rPr sz="1100" spc="23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-10">
                <a:solidFill>
                  <a:srgbClr val="A89FBB"/>
                </a:solidFill>
                <a:latin typeface="Arial MT"/>
                <a:cs typeface="Arial MT"/>
              </a:rPr>
              <a:t>normal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504044" y="1375786"/>
            <a:ext cx="2101215" cy="148209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700" b="1" spc="-50">
                <a:solidFill>
                  <a:srgbClr val="7852FF"/>
                </a:solidFill>
                <a:latin typeface="Arial"/>
                <a:cs typeface="Arial"/>
              </a:rPr>
              <a:t>5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ct val="114999"/>
              </a:lnSpc>
              <a:spcBef>
                <a:spcPts val="610"/>
              </a:spcBef>
            </a:pPr>
            <a:r>
              <a:rPr sz="1850" spc="-65">
                <a:solidFill>
                  <a:srgbClr val="DCD6E4"/>
                </a:solidFill>
                <a:latin typeface="Verdana"/>
                <a:cs typeface="Verdana"/>
              </a:rPr>
              <a:t>Stress</a:t>
            </a:r>
            <a:r>
              <a:rPr sz="1850" spc="-240">
                <a:solidFill>
                  <a:srgbClr val="DCD6E4"/>
                </a:solidFill>
                <a:latin typeface="Verdana"/>
                <a:cs typeface="Verdana"/>
              </a:rPr>
              <a:t> </a:t>
            </a:r>
            <a:r>
              <a:rPr sz="1850" spc="-25">
                <a:solidFill>
                  <a:srgbClr val="DCD6E4"/>
                </a:solidFill>
                <a:latin typeface="Verdana"/>
                <a:cs typeface="Verdana"/>
              </a:rPr>
              <a:t>and</a:t>
            </a:r>
            <a:r>
              <a:rPr sz="1850" spc="500">
                <a:solidFill>
                  <a:srgbClr val="DCD6E4"/>
                </a:solidFill>
                <a:latin typeface="Verdana"/>
                <a:cs typeface="Verdana"/>
              </a:rPr>
              <a:t> </a:t>
            </a:r>
            <a:r>
              <a:rPr sz="1850" spc="-10">
                <a:solidFill>
                  <a:srgbClr val="DCD6E4"/>
                </a:solidFill>
                <a:latin typeface="Verdana"/>
                <a:cs typeface="Verdana"/>
              </a:rPr>
              <a:t>fatigue</a:t>
            </a:r>
            <a:r>
              <a:rPr sz="1850" spc="-155">
                <a:solidFill>
                  <a:srgbClr val="DCD6E4"/>
                </a:solidFill>
                <a:latin typeface="Verdana"/>
                <a:cs typeface="Verdana"/>
              </a:rPr>
              <a:t> </a:t>
            </a:r>
            <a:r>
              <a:rPr sz="1850" spc="-10">
                <a:solidFill>
                  <a:srgbClr val="DCD6E4"/>
                </a:solidFill>
                <a:latin typeface="Verdana"/>
                <a:cs typeface="Verdana"/>
              </a:rPr>
              <a:t>prediction</a:t>
            </a:r>
            <a:endParaRPr sz="1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Forecast</a:t>
            </a:r>
            <a:r>
              <a:rPr sz="1100" spc="28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before</a:t>
            </a:r>
            <a:r>
              <a:rPr sz="1100" spc="16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the</a:t>
            </a:r>
            <a:r>
              <a:rPr sz="1100" spc="28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-20">
                <a:solidFill>
                  <a:srgbClr val="A89FBB"/>
                </a:solidFill>
                <a:latin typeface="Arial MT"/>
                <a:cs typeface="Arial MT"/>
              </a:rPr>
              <a:t>peak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600" y="3429000"/>
            <a:ext cx="2628900" cy="1762125"/>
          </a:xfrm>
          <a:prstGeom prst="rect">
            <a:avLst/>
          </a:prstGeom>
          <a:solidFill>
            <a:srgbClr val="8D4DFF"/>
          </a:solidFill>
        </p:spPr>
        <p:txBody>
          <a:bodyPr vert="horz" wrap="square" lIns="0" tIns="17145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350"/>
              </a:spcBef>
            </a:pPr>
            <a:r>
              <a:rPr sz="1700" b="1" spc="-5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700">
              <a:latin typeface="Arial"/>
              <a:cs typeface="Arial"/>
            </a:endParaRPr>
          </a:p>
          <a:p>
            <a:pPr marL="228600">
              <a:lnSpc>
                <a:spcPct val="100000"/>
              </a:lnSpc>
              <a:spcBef>
                <a:spcPts val="935"/>
              </a:spcBef>
            </a:pPr>
            <a:r>
              <a:rPr sz="1850">
                <a:solidFill>
                  <a:srgbClr val="FFFFFF"/>
                </a:solidFill>
                <a:latin typeface="Verdana"/>
                <a:cs typeface="Verdana"/>
              </a:rPr>
              <a:t>PRISM</a:t>
            </a:r>
            <a:r>
              <a:rPr sz="1850" spc="-1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>
                <a:solidFill>
                  <a:srgbClr val="FFFFFF"/>
                </a:solidFill>
                <a:latin typeface="Verdana"/>
                <a:cs typeface="Verdana"/>
              </a:rPr>
              <a:t>evaluation</a:t>
            </a:r>
            <a:endParaRPr sz="1850">
              <a:latin typeface="Verdana"/>
              <a:cs typeface="Verdana"/>
            </a:endParaRPr>
          </a:p>
          <a:p>
            <a:pPr marL="228600">
              <a:lnSpc>
                <a:spcPct val="100000"/>
              </a:lnSpc>
              <a:spcBef>
                <a:spcPts val="1495"/>
              </a:spcBef>
            </a:pPr>
            <a:r>
              <a:rPr sz="1100" spc="10">
                <a:solidFill>
                  <a:srgbClr val="FFFFFF"/>
                </a:solidFill>
                <a:latin typeface="Arial MT"/>
                <a:cs typeface="Arial MT"/>
              </a:rPr>
              <a:t>Scores</a:t>
            </a:r>
            <a:r>
              <a:rPr sz="1100" spc="20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FFFFFF"/>
                </a:solidFill>
                <a:latin typeface="Arial MT"/>
                <a:cs typeface="Arial MT"/>
              </a:rPr>
              <a:t>each</a:t>
            </a:r>
            <a:r>
              <a:rPr sz="1100" spc="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FFFFFF"/>
                </a:solidFill>
                <a:latin typeface="Arial MT"/>
                <a:cs typeface="Arial MT"/>
              </a:rPr>
              <a:t>prediction</a:t>
            </a:r>
            <a:r>
              <a:rPr sz="1100" spc="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110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3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endParaRPr sz="1100">
              <a:latin typeface="Arial MT"/>
              <a:cs typeface="Arial MT"/>
            </a:endParaRPr>
          </a:p>
          <a:p>
            <a:pPr marL="228600">
              <a:lnSpc>
                <a:spcPct val="100000"/>
              </a:lnSpc>
              <a:spcBef>
                <a:spcPts val="105"/>
              </a:spcBef>
            </a:pPr>
            <a:r>
              <a:rPr sz="1100" spc="-10">
                <a:solidFill>
                  <a:srgbClr val="FFFFFF"/>
                </a:solidFill>
                <a:latin typeface="Arial MT"/>
                <a:cs typeface="Arial MT"/>
              </a:rPr>
              <a:t>lands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90900" y="3429000"/>
            <a:ext cx="2628900" cy="1762125"/>
          </a:xfrm>
          <a:prstGeom prst="rect">
            <a:avLst/>
          </a:prstGeom>
          <a:solidFill>
            <a:srgbClr val="8D4DFF"/>
          </a:solidFill>
        </p:spPr>
        <p:txBody>
          <a:bodyPr vert="horz" wrap="square" lIns="0" tIns="171450" rIns="0" bIns="0" rtlCol="0">
            <a:spAutoFit/>
          </a:bodyPr>
          <a:lstStyle/>
          <a:p>
            <a:pPr marL="231140">
              <a:lnSpc>
                <a:spcPct val="100000"/>
              </a:lnSpc>
              <a:spcBef>
                <a:spcPts val="1350"/>
              </a:spcBef>
            </a:pPr>
            <a:r>
              <a:rPr sz="1700" b="1" spc="-5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1700">
              <a:latin typeface="Arial"/>
              <a:cs typeface="Arial"/>
            </a:endParaRPr>
          </a:p>
          <a:p>
            <a:pPr marL="231140">
              <a:lnSpc>
                <a:spcPct val="100000"/>
              </a:lnSpc>
              <a:spcBef>
                <a:spcPts val="935"/>
              </a:spcBef>
            </a:pPr>
            <a:r>
              <a:rPr sz="1850" spc="-20">
                <a:solidFill>
                  <a:srgbClr val="FFFFFF"/>
                </a:solidFill>
                <a:latin typeface="Verdana"/>
                <a:cs typeface="Verdana"/>
              </a:rPr>
              <a:t>Failure</a:t>
            </a:r>
            <a:r>
              <a:rPr sz="1850" spc="-16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50" spc="-10">
                <a:solidFill>
                  <a:srgbClr val="FFFFFF"/>
                </a:solidFill>
                <a:latin typeface="Verdana"/>
                <a:cs typeface="Verdana"/>
              </a:rPr>
              <a:t>detection</a:t>
            </a:r>
            <a:endParaRPr sz="1850">
              <a:latin typeface="Verdana"/>
              <a:cs typeface="Verdana"/>
            </a:endParaRPr>
          </a:p>
          <a:p>
            <a:pPr marL="231140">
              <a:lnSpc>
                <a:spcPct val="100000"/>
              </a:lnSpc>
              <a:spcBef>
                <a:spcPts val="1495"/>
              </a:spcBef>
            </a:pPr>
            <a:r>
              <a:rPr sz="1100">
                <a:solidFill>
                  <a:srgbClr val="FFFFFF"/>
                </a:solidFill>
                <a:latin typeface="Arial MT"/>
                <a:cs typeface="Arial MT"/>
              </a:rPr>
              <a:t>Wrong</a:t>
            </a:r>
            <a:r>
              <a:rPr sz="1100" spc="2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FFFFFF"/>
                </a:solidFill>
                <a:latin typeface="Arial MT"/>
                <a:cs typeface="Arial MT"/>
              </a:rPr>
              <a:t>calls,</a:t>
            </a:r>
            <a:r>
              <a:rPr sz="1100" spc="1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FFFFFF"/>
                </a:solidFill>
                <a:latin typeface="Arial MT"/>
                <a:cs typeface="Arial MT"/>
              </a:rPr>
              <a:t>misses,</a:t>
            </a:r>
            <a:r>
              <a:rPr sz="1100" spc="1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40">
                <a:solidFill>
                  <a:srgbClr val="FFFFFF"/>
                </a:solidFill>
                <a:latin typeface="Arial MT"/>
                <a:cs typeface="Arial MT"/>
              </a:rPr>
              <a:t>false</a:t>
            </a:r>
            <a:endParaRPr sz="1100">
              <a:latin typeface="Arial MT"/>
              <a:cs typeface="Arial MT"/>
            </a:endParaRPr>
          </a:p>
          <a:p>
            <a:pPr marL="231140">
              <a:lnSpc>
                <a:spcPct val="100000"/>
              </a:lnSpc>
              <a:spcBef>
                <a:spcPts val="105"/>
              </a:spcBef>
            </a:pPr>
            <a:r>
              <a:rPr sz="1100" spc="-10">
                <a:solidFill>
                  <a:srgbClr val="FFFFFF"/>
                </a:solidFill>
                <a:latin typeface="Arial MT"/>
                <a:cs typeface="Arial MT"/>
              </a:rPr>
              <a:t>alarms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63945" y="3479053"/>
            <a:ext cx="2064385" cy="115252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700" b="1" spc="-50">
                <a:solidFill>
                  <a:srgbClr val="7852FF"/>
                </a:solidFill>
                <a:latin typeface="Arial"/>
                <a:cs typeface="Arial"/>
              </a:rPr>
              <a:t>8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850" spc="-10">
                <a:solidFill>
                  <a:srgbClr val="DCD6E4"/>
                </a:solidFill>
                <a:latin typeface="Verdana"/>
                <a:cs typeface="Verdana"/>
              </a:rPr>
              <a:t>Intervention</a:t>
            </a:r>
            <a:endParaRPr sz="1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495"/>
              </a:spcBef>
            </a:pP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A</a:t>
            </a:r>
            <a:r>
              <a:rPr sz="1100" spc="7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break,</a:t>
            </a:r>
            <a:r>
              <a:rPr sz="1100" spc="6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a</a:t>
            </a:r>
            <a:r>
              <a:rPr sz="1100" spc="4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pace</a:t>
            </a:r>
            <a:r>
              <a:rPr sz="1100" spc="14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change,</a:t>
            </a:r>
            <a:r>
              <a:rPr sz="1100" spc="6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a</a:t>
            </a:r>
            <a:r>
              <a:rPr sz="1100" spc="13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-20">
                <a:solidFill>
                  <a:srgbClr val="A89FBB"/>
                </a:solidFill>
                <a:latin typeface="Arial MT"/>
                <a:cs typeface="Arial MT"/>
              </a:rPr>
              <a:t>stop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47531" y="3479053"/>
            <a:ext cx="2486025" cy="1480820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700" b="1" spc="-50">
                <a:solidFill>
                  <a:srgbClr val="7852FF"/>
                </a:solidFill>
                <a:latin typeface="Arial"/>
                <a:cs typeface="Arial"/>
              </a:rPr>
              <a:t>D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850" spc="-10">
                <a:solidFill>
                  <a:srgbClr val="DCD6E4"/>
                </a:solidFill>
                <a:latin typeface="Verdana"/>
                <a:cs typeface="Verdana"/>
              </a:rPr>
              <a:t>Continuous</a:t>
            </a:r>
            <a:endParaRPr sz="1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850" spc="-10">
                <a:solidFill>
                  <a:srgbClr val="DCD6E4"/>
                </a:solidFill>
                <a:latin typeface="Verdana"/>
                <a:cs typeface="Verdana"/>
              </a:rPr>
              <a:t>improvement</a:t>
            </a:r>
            <a:endParaRPr sz="1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Every</a:t>
            </a:r>
            <a:r>
              <a:rPr sz="1100" spc="20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failure</a:t>
            </a:r>
            <a:r>
              <a:rPr sz="1100" spc="22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becomes</a:t>
            </a:r>
            <a:r>
              <a:rPr sz="1100" spc="14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training</a:t>
            </a:r>
            <a:r>
              <a:rPr sz="1100" spc="16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-10">
                <a:solidFill>
                  <a:srgbClr val="A89FBB"/>
                </a:solidFill>
                <a:latin typeface="Arial MT"/>
                <a:cs typeface="Arial MT"/>
              </a:rPr>
              <a:t>signal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7217" y="5391467"/>
            <a:ext cx="115379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90">
                <a:solidFill>
                  <a:srgbClr val="B6ACCA"/>
                </a:solidFill>
                <a:latin typeface="Tahoma"/>
                <a:cs typeface="Tahoma"/>
              </a:rPr>
              <a:t>RETURN</a:t>
            </a:r>
            <a:r>
              <a:rPr sz="1200" spc="125">
                <a:solidFill>
                  <a:srgbClr val="B6ACCA"/>
                </a:solidFill>
                <a:latin typeface="Tahoma"/>
                <a:cs typeface="Tahoma"/>
              </a:rPr>
              <a:t> </a:t>
            </a:r>
            <a:r>
              <a:rPr sz="1200" spc="65">
                <a:solidFill>
                  <a:srgbClr val="B6ACCA"/>
                </a:solidFill>
                <a:latin typeface="Tahoma"/>
                <a:cs typeface="Tahoma"/>
              </a:rPr>
              <a:t>LOOP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895600" y="5676900"/>
            <a:ext cx="5867400" cy="38100"/>
          </a:xfrm>
          <a:custGeom>
            <a:avLst/>
            <a:gdLst/>
            <a:ahLst/>
            <a:cxnLst/>
            <a:rect l="l" t="t" r="r" b="b"/>
            <a:pathLst>
              <a:path w="5867400" h="38100">
                <a:moveTo>
                  <a:pt x="5848350" y="0"/>
                </a:moveTo>
                <a:lnTo>
                  <a:pt x="19050" y="0"/>
                </a:lnTo>
                <a:lnTo>
                  <a:pt x="11626" y="1497"/>
                </a:lnTo>
                <a:lnTo>
                  <a:pt x="5572" y="5581"/>
                </a:lnTo>
                <a:lnTo>
                  <a:pt x="1494" y="11637"/>
                </a:lnTo>
                <a:lnTo>
                  <a:pt x="0" y="19050"/>
                </a:lnTo>
                <a:lnTo>
                  <a:pt x="1494" y="26462"/>
                </a:lnTo>
                <a:lnTo>
                  <a:pt x="5572" y="32518"/>
                </a:lnTo>
                <a:lnTo>
                  <a:pt x="11626" y="36602"/>
                </a:lnTo>
                <a:lnTo>
                  <a:pt x="19050" y="38100"/>
                </a:lnTo>
                <a:lnTo>
                  <a:pt x="5848350" y="38100"/>
                </a:lnTo>
                <a:lnTo>
                  <a:pt x="5855773" y="36602"/>
                </a:lnTo>
                <a:lnTo>
                  <a:pt x="5861827" y="32518"/>
                </a:lnTo>
                <a:lnTo>
                  <a:pt x="5865905" y="26462"/>
                </a:lnTo>
                <a:lnTo>
                  <a:pt x="5867400" y="19050"/>
                </a:lnTo>
                <a:lnTo>
                  <a:pt x="5865905" y="11637"/>
                </a:lnTo>
                <a:lnTo>
                  <a:pt x="5861827" y="5581"/>
                </a:lnTo>
                <a:lnTo>
                  <a:pt x="5855773" y="1497"/>
                </a:lnTo>
                <a:lnTo>
                  <a:pt x="5848350" y="0"/>
                </a:lnTo>
                <a:close/>
              </a:path>
            </a:pathLst>
          </a:custGeom>
          <a:solidFill>
            <a:srgbClr val="785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909431" y="5400716"/>
            <a:ext cx="2327910" cy="5791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11000"/>
              </a:lnSpc>
              <a:spcBef>
                <a:spcPts val="60"/>
              </a:spcBef>
            </a:pP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PRISM</a:t>
            </a:r>
            <a:r>
              <a:rPr sz="1100" spc="11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evaluation</a:t>
            </a:r>
            <a:r>
              <a:rPr sz="1100" spc="9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and</a:t>
            </a:r>
            <a:r>
              <a:rPr sz="1100" spc="8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35">
                <a:solidFill>
                  <a:srgbClr val="A89FBB"/>
                </a:solidFill>
                <a:latin typeface="Arial MT"/>
                <a:cs typeface="Arial MT"/>
              </a:rPr>
              <a:t>continuous </a:t>
            </a:r>
            <a:r>
              <a:rPr sz="1100" spc="50">
                <a:solidFill>
                  <a:srgbClr val="A89FBB"/>
                </a:solidFill>
                <a:latin typeface="Arial MT"/>
                <a:cs typeface="Arial MT"/>
              </a:rPr>
              <a:t>improvement</a:t>
            </a:r>
            <a:r>
              <a:rPr sz="1100" spc="6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50">
                <a:solidFill>
                  <a:srgbClr val="A89FBB"/>
                </a:solidFill>
                <a:latin typeface="Arial MT"/>
                <a:cs typeface="Arial MT"/>
              </a:rPr>
              <a:t>feed</a:t>
            </a:r>
            <a:r>
              <a:rPr sz="1100" spc="114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back</a:t>
            </a:r>
            <a:r>
              <a:rPr sz="1100" spc="10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into</a:t>
            </a:r>
            <a:r>
              <a:rPr sz="1100" spc="10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the</a:t>
            </a:r>
            <a:r>
              <a:rPr sz="1100" spc="16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-25">
                <a:solidFill>
                  <a:srgbClr val="A89FBB"/>
                </a:solidFill>
                <a:latin typeface="Arial MT"/>
                <a:cs typeface="Arial MT"/>
              </a:rPr>
              <a:t>AI </a:t>
            </a:r>
            <a:r>
              <a:rPr sz="1100" spc="-10">
                <a:solidFill>
                  <a:srgbClr val="A89FBB"/>
                </a:solidFill>
                <a:latin typeface="Arial MT"/>
                <a:cs typeface="Arial MT"/>
              </a:rPr>
              <a:t>layer.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0"/>
              <a:t>Healthier</a:t>
            </a:r>
            <a:r>
              <a:rPr spc="-195"/>
              <a:t> </a:t>
            </a:r>
            <a:r>
              <a:t>habits</a:t>
            </a:r>
            <a:r>
              <a:rPr spc="-225"/>
              <a:t> </a:t>
            </a:r>
            <a:r>
              <a:rPr spc="-10"/>
              <a:t>now,</a:t>
            </a:r>
            <a:r>
              <a:rPr spc="-200"/>
              <a:t> </a:t>
            </a:r>
            <a:r>
              <a:rPr spc="-65"/>
              <a:t>far</a:t>
            </a:r>
            <a:r>
              <a:rPr spc="-195"/>
              <a:t> </a:t>
            </a:r>
            <a:r>
              <a:rPr spc="60"/>
              <a:t>beyond</a:t>
            </a:r>
            <a:r>
              <a:rPr spc="-195"/>
              <a:t> </a:t>
            </a:r>
            <a:r>
              <a:rPr spc="95"/>
              <a:t>gaming</a:t>
            </a:r>
            <a:r>
              <a:rPr spc="-140"/>
              <a:t> </a:t>
            </a:r>
            <a:r>
              <a:rPr spc="-20"/>
              <a:t>next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7217" y="1151111"/>
            <a:ext cx="3963035" cy="276288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1200" spc="110">
                <a:solidFill>
                  <a:srgbClr val="B6ACCA"/>
                </a:solidFill>
                <a:latin typeface="Tahoma"/>
                <a:cs typeface="Tahoma"/>
              </a:rPr>
              <a:t>IMPACT</a:t>
            </a:r>
            <a:endParaRPr sz="1200">
              <a:latin typeface="Tahoma"/>
              <a:cs typeface="Tahoma"/>
            </a:endParaRPr>
          </a:p>
          <a:p>
            <a:pPr marL="12700" marR="86360">
              <a:lnSpc>
                <a:spcPct val="117800"/>
              </a:lnSpc>
              <a:spcBef>
                <a:spcPts val="790"/>
              </a:spcBef>
            </a:pP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Invisible</a:t>
            </a:r>
            <a:r>
              <a:rPr sz="1700" spc="-6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strain</a:t>
            </a:r>
            <a:r>
              <a:rPr sz="1700" spc="-2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becomes</a:t>
            </a:r>
            <a:r>
              <a:rPr sz="1700" spc="4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a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 visible,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actionable</a:t>
            </a:r>
            <a:r>
              <a:rPr sz="1700" spc="-5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signal,</a:t>
            </a:r>
            <a:r>
              <a:rPr sz="1700" spc="-7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and</a:t>
            </a:r>
            <a:r>
              <a:rPr sz="1700" spc="-10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repeated</a:t>
            </a:r>
            <a:r>
              <a:rPr sz="1700" spc="-3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prompts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build</a:t>
            </a:r>
            <a:r>
              <a:rPr sz="1700" spc="2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healthier</a:t>
            </a:r>
            <a:r>
              <a:rPr sz="1700" spc="4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digital</a:t>
            </a:r>
            <a:r>
              <a:rPr sz="1700" spc="-2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habits</a:t>
            </a:r>
            <a:r>
              <a:rPr sz="1700" spc="3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over</a:t>
            </a:r>
            <a:r>
              <a:rPr sz="1700" spc="-3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time.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5150" b="1" spc="-1360">
                <a:solidFill>
                  <a:srgbClr val="52D7FF"/>
                </a:solidFill>
                <a:latin typeface="Tahoma"/>
                <a:cs typeface="Tahoma"/>
              </a:rPr>
              <a:t>1</a:t>
            </a:r>
            <a:endParaRPr sz="5150">
              <a:latin typeface="Tahoma"/>
              <a:cs typeface="Tahoma"/>
            </a:endParaRPr>
          </a:p>
          <a:p>
            <a:pPr marL="12700" marR="5080">
              <a:lnSpc>
                <a:spcPct val="108100"/>
              </a:lnSpc>
              <a:spcBef>
                <a:spcPts val="1810"/>
              </a:spcBef>
            </a:pP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One</a:t>
            </a:r>
            <a:r>
              <a:rPr sz="1100" spc="14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adaptive</a:t>
            </a:r>
            <a:r>
              <a:rPr sz="1100" spc="6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well-being</a:t>
            </a:r>
            <a:r>
              <a:rPr sz="1100" spc="11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layer</a:t>
            </a:r>
            <a:r>
              <a:rPr sz="1100" spc="13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across</a:t>
            </a:r>
            <a:r>
              <a:rPr sz="1100" spc="7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every</a:t>
            </a:r>
            <a:r>
              <a:rPr sz="1100" spc="13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screen</a:t>
            </a:r>
            <a:r>
              <a:rPr sz="1100" spc="12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10">
                <a:solidFill>
                  <a:srgbClr val="A89FBB"/>
                </a:solidFill>
                <a:latin typeface="Arial MT"/>
                <a:cs typeface="Arial MT"/>
              </a:rPr>
              <a:t>a</a:t>
            </a:r>
            <a:r>
              <a:rPr sz="1100" spc="130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-10">
                <a:solidFill>
                  <a:srgbClr val="A89FBB"/>
                </a:solidFill>
                <a:latin typeface="Arial MT"/>
                <a:cs typeface="Arial MT"/>
              </a:rPr>
              <a:t>person </a:t>
            </a:r>
            <a:r>
              <a:rPr sz="1100">
                <a:solidFill>
                  <a:srgbClr val="A89FBB"/>
                </a:solidFill>
                <a:latin typeface="Arial MT"/>
                <a:cs typeface="Arial MT"/>
              </a:rPr>
              <a:t>lives</a:t>
            </a:r>
            <a:r>
              <a:rPr sz="1100" spc="165">
                <a:solidFill>
                  <a:srgbClr val="A89FBB"/>
                </a:solidFill>
                <a:latin typeface="Arial MT"/>
                <a:cs typeface="Arial MT"/>
              </a:rPr>
              <a:t> </a:t>
            </a:r>
            <a:r>
              <a:rPr sz="1100" spc="-25">
                <a:solidFill>
                  <a:srgbClr val="A89FBB"/>
                </a:solidFill>
                <a:latin typeface="Arial MT"/>
                <a:cs typeface="Arial MT"/>
              </a:rPr>
              <a:t>in.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18429" y="1345279"/>
            <a:ext cx="6012815" cy="325437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1200" spc="90">
                <a:solidFill>
                  <a:srgbClr val="B6ACCA"/>
                </a:solidFill>
                <a:latin typeface="Tahoma"/>
                <a:cs typeface="Tahoma"/>
              </a:rPr>
              <a:t>NEXT</a:t>
            </a:r>
            <a:r>
              <a:rPr sz="1200" spc="175">
                <a:solidFill>
                  <a:srgbClr val="B6ACCA"/>
                </a:solidFill>
                <a:latin typeface="Tahoma"/>
                <a:cs typeface="Tahoma"/>
              </a:rPr>
              <a:t> </a:t>
            </a:r>
            <a:r>
              <a:rPr sz="1200" spc="65">
                <a:solidFill>
                  <a:srgbClr val="B6ACCA"/>
                </a:solidFill>
                <a:latin typeface="Tahoma"/>
                <a:cs typeface="Tahoma"/>
              </a:rPr>
              <a:t>USERS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2400" spc="-95">
                <a:solidFill>
                  <a:srgbClr val="DCD6E4"/>
                </a:solidFill>
                <a:latin typeface="Verdana"/>
                <a:cs typeface="Verdana"/>
              </a:rPr>
              <a:t>Students,</a:t>
            </a:r>
            <a:r>
              <a:rPr sz="2400" spc="-229">
                <a:solidFill>
                  <a:srgbClr val="DCD6E4"/>
                </a:solidFill>
                <a:latin typeface="Verdana"/>
                <a:cs typeface="Verdana"/>
              </a:rPr>
              <a:t> </a:t>
            </a:r>
            <a:r>
              <a:rPr sz="2400" spc="-60">
                <a:solidFill>
                  <a:srgbClr val="DCD6E4"/>
                </a:solidFill>
                <a:latin typeface="Verdana"/>
                <a:cs typeface="Verdana"/>
              </a:rPr>
              <a:t>programmers,</a:t>
            </a:r>
            <a:r>
              <a:rPr sz="2400" spc="-310">
                <a:solidFill>
                  <a:srgbClr val="DCD6E4"/>
                </a:solidFill>
                <a:latin typeface="Verdana"/>
                <a:cs typeface="Verdana"/>
              </a:rPr>
              <a:t> </a:t>
            </a:r>
            <a:r>
              <a:rPr sz="2400" spc="-10">
                <a:solidFill>
                  <a:srgbClr val="DCD6E4"/>
                </a:solidFill>
                <a:latin typeface="Verdana"/>
                <a:cs typeface="Verdana"/>
              </a:rPr>
              <a:t>remote</a:t>
            </a:r>
            <a:r>
              <a:rPr sz="2400" spc="-280">
                <a:solidFill>
                  <a:srgbClr val="DCD6E4"/>
                </a:solidFill>
                <a:latin typeface="Verdana"/>
                <a:cs typeface="Verdana"/>
              </a:rPr>
              <a:t> </a:t>
            </a:r>
            <a:r>
              <a:rPr sz="2400" spc="-10">
                <a:solidFill>
                  <a:srgbClr val="DCD6E4"/>
                </a:solidFill>
                <a:latin typeface="Verdana"/>
                <a:cs typeface="Verdana"/>
              </a:rPr>
              <a:t>workers</a:t>
            </a:r>
            <a:endParaRPr sz="2400">
              <a:latin typeface="Verdana"/>
              <a:cs typeface="Verdana"/>
            </a:endParaRPr>
          </a:p>
          <a:p>
            <a:pPr marL="12700" marR="375920">
              <a:lnSpc>
                <a:spcPct val="117700"/>
              </a:lnSpc>
              <a:spcBef>
                <a:spcPts val="1180"/>
              </a:spcBef>
            </a:pPr>
            <a:r>
              <a:rPr sz="1700" spc="-20">
                <a:solidFill>
                  <a:srgbClr val="DCD6E4"/>
                </a:solidFill>
                <a:latin typeface="Arial MT"/>
                <a:cs typeface="Arial MT"/>
              </a:rPr>
              <a:t>Any</a:t>
            </a:r>
            <a:r>
              <a:rPr sz="1700" spc="1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30">
                <a:solidFill>
                  <a:srgbClr val="DCD6E4"/>
                </a:solidFill>
                <a:latin typeface="Arial MT"/>
                <a:cs typeface="Arial MT"/>
              </a:rPr>
              <a:t>high-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intensity</a:t>
            </a:r>
            <a:r>
              <a:rPr sz="1700" spc="1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digital</a:t>
            </a:r>
            <a:r>
              <a:rPr sz="1700" spc="-4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user</a:t>
            </a:r>
            <a:r>
              <a:rPr sz="1700" spc="2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whose</a:t>
            </a:r>
            <a:r>
              <a:rPr sz="1700" spc="-8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work</a:t>
            </a:r>
            <a:r>
              <a:rPr sz="1700" spc="-5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looks</a:t>
            </a:r>
            <a:r>
              <a:rPr sz="1700" spc="2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like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a</a:t>
            </a:r>
            <a:r>
              <a:rPr sz="1700" spc="-4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20">
                <a:solidFill>
                  <a:srgbClr val="DCD6E4"/>
                </a:solidFill>
                <a:latin typeface="Arial MT"/>
                <a:cs typeface="Arial MT"/>
              </a:rPr>
              <a:t>long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session.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spc="90">
                <a:solidFill>
                  <a:srgbClr val="B6ACCA"/>
                </a:solidFill>
                <a:latin typeface="Tahoma"/>
                <a:cs typeface="Tahoma"/>
              </a:rPr>
              <a:t>NEXT</a:t>
            </a:r>
            <a:r>
              <a:rPr sz="1200" spc="240">
                <a:solidFill>
                  <a:srgbClr val="B6ACCA"/>
                </a:solidFill>
                <a:latin typeface="Tahoma"/>
                <a:cs typeface="Tahoma"/>
              </a:rPr>
              <a:t> </a:t>
            </a:r>
            <a:r>
              <a:rPr sz="1200">
                <a:solidFill>
                  <a:srgbClr val="B6ACCA"/>
                </a:solidFill>
                <a:latin typeface="Tahoma"/>
                <a:cs typeface="Tahoma"/>
              </a:rPr>
              <a:t>SIG</a:t>
            </a:r>
            <a:r>
              <a:rPr sz="1200" spc="-200">
                <a:solidFill>
                  <a:srgbClr val="B6ACCA"/>
                </a:solidFill>
                <a:latin typeface="Tahoma"/>
                <a:cs typeface="Tahoma"/>
              </a:rPr>
              <a:t> </a:t>
            </a:r>
            <a:r>
              <a:rPr sz="1200" spc="95">
                <a:solidFill>
                  <a:srgbClr val="B6ACCA"/>
                </a:solidFill>
                <a:latin typeface="Tahoma"/>
                <a:cs typeface="Tahoma"/>
              </a:rPr>
              <a:t>NALS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2400" spc="-30">
                <a:solidFill>
                  <a:srgbClr val="DCD6E4"/>
                </a:solidFill>
                <a:latin typeface="Verdana"/>
                <a:cs typeface="Verdana"/>
              </a:rPr>
              <a:t>Wearable</a:t>
            </a:r>
            <a:r>
              <a:rPr sz="2400" spc="-285">
                <a:solidFill>
                  <a:srgbClr val="DCD6E4"/>
                </a:solidFill>
                <a:latin typeface="Verdana"/>
                <a:cs typeface="Verdana"/>
              </a:rPr>
              <a:t> </a:t>
            </a:r>
            <a:r>
              <a:rPr sz="2400" spc="-10">
                <a:solidFill>
                  <a:srgbClr val="DCD6E4"/>
                </a:solidFill>
                <a:latin typeface="Verdana"/>
                <a:cs typeface="Verdana"/>
              </a:rPr>
              <a:t>integration</a:t>
            </a:r>
            <a:endParaRPr sz="2400">
              <a:latin typeface="Verdana"/>
              <a:cs typeface="Verdana"/>
            </a:endParaRPr>
          </a:p>
          <a:p>
            <a:pPr marL="12700" marR="5080">
              <a:lnSpc>
                <a:spcPct val="117900"/>
              </a:lnSpc>
              <a:spcBef>
                <a:spcPts val="1175"/>
              </a:spcBef>
            </a:pP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Additional</a:t>
            </a:r>
            <a:r>
              <a:rPr sz="1700" spc="-1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behavioral and</a:t>
            </a:r>
            <a:r>
              <a:rPr sz="1700" spc="-4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physiological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inputs</a:t>
            </a:r>
            <a:r>
              <a:rPr sz="1700" spc="-3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layered</a:t>
            </a:r>
            <a:r>
              <a:rPr sz="1700" spc="4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onto</a:t>
            </a:r>
            <a:r>
              <a:rPr sz="1700" spc="-50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25">
                <a:solidFill>
                  <a:srgbClr val="DCD6E4"/>
                </a:solidFill>
                <a:latin typeface="Arial MT"/>
                <a:cs typeface="Arial MT"/>
              </a:rPr>
              <a:t>the </a:t>
            </a:r>
            <a:r>
              <a:rPr sz="1700">
                <a:solidFill>
                  <a:srgbClr val="DCD6E4"/>
                </a:solidFill>
                <a:latin typeface="Arial MT"/>
                <a:cs typeface="Arial MT"/>
              </a:rPr>
              <a:t>same</a:t>
            </a:r>
            <a:r>
              <a:rPr sz="1700" spc="-15">
                <a:solidFill>
                  <a:srgbClr val="DCD6E4"/>
                </a:solidFill>
                <a:latin typeface="Arial MT"/>
                <a:cs typeface="Arial MT"/>
              </a:rPr>
              <a:t> </a:t>
            </a:r>
            <a:r>
              <a:rPr sz="1700" spc="-10">
                <a:solidFill>
                  <a:srgbClr val="DCD6E4"/>
                </a:solidFill>
                <a:latin typeface="Arial MT"/>
                <a:cs typeface="Arial MT"/>
              </a:rPr>
              <a:t>baseline.</a:t>
            </a:r>
            <a:endParaRPr sz="17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229225" y="4907279"/>
            <a:ext cx="6353175" cy="120014"/>
            <a:chOff x="5229225" y="4907279"/>
            <a:chExt cx="6353175" cy="120014"/>
          </a:xfrm>
        </p:grpSpPr>
        <p:sp>
          <p:nvSpPr>
            <p:cNvPr id="6" name="object 6"/>
            <p:cNvSpPr/>
            <p:nvPr/>
          </p:nvSpPr>
          <p:spPr>
            <a:xfrm>
              <a:off x="5229225" y="4907279"/>
              <a:ext cx="6353175" cy="120014"/>
            </a:xfrm>
            <a:custGeom>
              <a:avLst/>
              <a:gdLst/>
              <a:ahLst/>
              <a:cxnLst/>
              <a:rect l="l" t="t" r="r" b="b"/>
              <a:pathLst>
                <a:path w="6353175" h="120014">
                  <a:moveTo>
                    <a:pt x="5209540" y="0"/>
                  </a:moveTo>
                  <a:lnTo>
                    <a:pt x="0" y="42799"/>
                  </a:lnTo>
                  <a:lnTo>
                    <a:pt x="0" y="77216"/>
                  </a:lnTo>
                  <a:lnTo>
                    <a:pt x="5209540" y="120015"/>
                  </a:lnTo>
                  <a:lnTo>
                    <a:pt x="6353175" y="59944"/>
                  </a:lnTo>
                  <a:lnTo>
                    <a:pt x="5209540" y="0"/>
                  </a:lnTo>
                  <a:close/>
                </a:path>
              </a:pathLst>
            </a:custGeom>
            <a:solidFill>
              <a:srgbClr val="571C9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01050" y="4943474"/>
              <a:ext cx="3181350" cy="38100"/>
            </a:xfrm>
            <a:custGeom>
              <a:avLst/>
              <a:gdLst/>
              <a:ahLst/>
              <a:cxnLst/>
              <a:rect l="l" t="t" r="r" b="b"/>
              <a:pathLst>
                <a:path w="3181350" h="38100">
                  <a:moveTo>
                    <a:pt x="3162300" y="0"/>
                  </a:moveTo>
                  <a:lnTo>
                    <a:pt x="19050" y="0"/>
                  </a:lnTo>
                  <a:lnTo>
                    <a:pt x="11626" y="1494"/>
                  </a:lnTo>
                  <a:lnTo>
                    <a:pt x="5572" y="5572"/>
                  </a:lnTo>
                  <a:lnTo>
                    <a:pt x="1494" y="11626"/>
                  </a:lnTo>
                  <a:lnTo>
                    <a:pt x="0" y="19050"/>
                  </a:lnTo>
                  <a:lnTo>
                    <a:pt x="1494" y="26473"/>
                  </a:lnTo>
                  <a:lnTo>
                    <a:pt x="5572" y="32527"/>
                  </a:lnTo>
                  <a:lnTo>
                    <a:pt x="11626" y="36605"/>
                  </a:lnTo>
                  <a:lnTo>
                    <a:pt x="19050" y="38100"/>
                  </a:lnTo>
                  <a:lnTo>
                    <a:pt x="3162300" y="38100"/>
                  </a:lnTo>
                  <a:lnTo>
                    <a:pt x="3169723" y="36605"/>
                  </a:lnTo>
                  <a:lnTo>
                    <a:pt x="3175777" y="32527"/>
                  </a:lnTo>
                  <a:lnTo>
                    <a:pt x="3179855" y="26473"/>
                  </a:lnTo>
                  <a:lnTo>
                    <a:pt x="3181350" y="19050"/>
                  </a:lnTo>
                  <a:lnTo>
                    <a:pt x="3179855" y="11626"/>
                  </a:lnTo>
                  <a:lnTo>
                    <a:pt x="3175777" y="5572"/>
                  </a:lnTo>
                  <a:lnTo>
                    <a:pt x="3169723" y="1494"/>
                  </a:lnTo>
                  <a:lnTo>
                    <a:pt x="3162300" y="0"/>
                  </a:lnTo>
                  <a:close/>
                </a:path>
              </a:pathLst>
            </a:custGeom>
            <a:solidFill>
              <a:srgbClr val="785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4991100" y="1276350"/>
            <a:ext cx="19050" cy="3762375"/>
          </a:xfrm>
          <a:custGeom>
            <a:avLst/>
            <a:gdLst/>
            <a:ahLst/>
            <a:cxnLst/>
            <a:rect l="l" t="t" r="r" b="b"/>
            <a:pathLst>
              <a:path w="19050" h="3762375">
                <a:moveTo>
                  <a:pt x="19050" y="0"/>
                </a:moveTo>
                <a:lnTo>
                  <a:pt x="0" y="0"/>
                </a:lnTo>
                <a:lnTo>
                  <a:pt x="0" y="3762375"/>
                </a:lnTo>
                <a:lnTo>
                  <a:pt x="19050" y="3762375"/>
                </a:lnTo>
                <a:lnTo>
                  <a:pt x="19050" y="0"/>
                </a:lnTo>
                <a:close/>
              </a:path>
            </a:pathLst>
          </a:custGeom>
          <a:solidFill>
            <a:srgbClr val="52D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29225" y="3019425"/>
            <a:ext cx="6353175" cy="9525"/>
          </a:xfrm>
          <a:custGeom>
            <a:avLst/>
            <a:gdLst/>
            <a:ahLst/>
            <a:cxnLst/>
            <a:rect l="l" t="t" r="r" b="b"/>
            <a:pathLst>
              <a:path w="6353175" h="9525">
                <a:moveTo>
                  <a:pt x="6353175" y="0"/>
                </a:moveTo>
                <a:lnTo>
                  <a:pt x="0" y="0"/>
                </a:lnTo>
                <a:lnTo>
                  <a:pt x="0" y="9525"/>
                </a:lnTo>
                <a:lnTo>
                  <a:pt x="6353175" y="9525"/>
                </a:lnTo>
                <a:lnTo>
                  <a:pt x="6353175" y="0"/>
                </a:lnTo>
                <a:close/>
              </a:path>
            </a:pathLst>
          </a:custGeom>
          <a:solidFill>
            <a:srgbClr val="3A305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 spd="slow">
    <p:strips dir="l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9417" y="4654930"/>
            <a:ext cx="11207115" cy="1444625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 marR="5080">
              <a:lnSpc>
                <a:spcPts val="4950"/>
              </a:lnSpc>
              <a:spcBef>
                <a:spcPts val="1320"/>
              </a:spcBef>
            </a:pPr>
            <a:r>
              <a:rPr sz="5150" b="1" spc="-45">
                <a:solidFill>
                  <a:srgbClr val="FFFFFF"/>
                </a:solidFill>
                <a:latin typeface="Tahoma"/>
                <a:cs typeface="Tahoma"/>
              </a:rPr>
              <a:t>Prevention</a:t>
            </a:r>
            <a:r>
              <a:rPr sz="5150" b="1" spc="-36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150" b="1" spc="-30">
                <a:solidFill>
                  <a:srgbClr val="FFFFFF"/>
                </a:solidFill>
                <a:latin typeface="Tahoma"/>
                <a:cs typeface="Tahoma"/>
              </a:rPr>
              <a:t>beats</a:t>
            </a:r>
            <a:r>
              <a:rPr sz="5150" b="1" spc="-3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150" b="1" spc="-130">
                <a:solidFill>
                  <a:srgbClr val="FFFFFF"/>
                </a:solidFill>
                <a:latin typeface="Tahoma"/>
                <a:cs typeface="Tahoma"/>
              </a:rPr>
              <a:t>recovery,</a:t>
            </a:r>
            <a:r>
              <a:rPr sz="5150" b="1" spc="-4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150" b="1" spc="75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5150" b="1" spc="-3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150" b="1" spc="-25">
                <a:solidFill>
                  <a:srgbClr val="FFFFFF"/>
                </a:solidFill>
                <a:latin typeface="Tahoma"/>
                <a:cs typeface="Tahoma"/>
              </a:rPr>
              <a:t>the </a:t>
            </a:r>
            <a:r>
              <a:rPr sz="5150" b="1" spc="-85">
                <a:solidFill>
                  <a:srgbClr val="FFFFFF"/>
                </a:solidFill>
                <a:latin typeface="Tahoma"/>
                <a:cs typeface="Tahoma"/>
              </a:rPr>
              <a:t>signals</a:t>
            </a:r>
            <a:r>
              <a:rPr sz="5150" b="1" spc="-3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150" b="1" spc="-95">
                <a:solidFill>
                  <a:srgbClr val="FFFFFF"/>
                </a:solidFill>
                <a:latin typeface="Tahoma"/>
                <a:cs typeface="Tahoma"/>
              </a:rPr>
              <a:t>are</a:t>
            </a:r>
            <a:r>
              <a:rPr sz="5150" b="1" spc="-3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150" b="1" spc="-95">
                <a:solidFill>
                  <a:srgbClr val="FFFFFF"/>
                </a:solidFill>
                <a:latin typeface="Tahoma"/>
                <a:cs typeface="Tahoma"/>
              </a:rPr>
              <a:t>already</a:t>
            </a:r>
            <a:r>
              <a:rPr sz="5150" b="1" spc="-4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150" b="1" spc="-10">
                <a:solidFill>
                  <a:srgbClr val="FFFFFF"/>
                </a:solidFill>
                <a:latin typeface="Tahoma"/>
                <a:cs typeface="Tahoma"/>
              </a:rPr>
              <a:t>there</a:t>
            </a:r>
            <a:endParaRPr sz="51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9417" y="6318567"/>
            <a:ext cx="750189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2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1100" spc="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20">
                <a:solidFill>
                  <a:srgbClr val="FFFFFF"/>
                </a:solidFill>
                <a:latin typeface="Arial MT"/>
                <a:cs typeface="Arial MT"/>
              </a:rPr>
              <a:t>non-invasive</a:t>
            </a:r>
            <a:r>
              <a:rPr sz="110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2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r>
              <a:rPr sz="110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2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1100" spc="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20">
                <a:solidFill>
                  <a:srgbClr val="FFFFFF"/>
                </a:solidFill>
                <a:latin typeface="Arial MT"/>
                <a:cs typeface="Arial MT"/>
              </a:rPr>
              <a:t>learns</a:t>
            </a:r>
            <a:r>
              <a:rPr sz="1100" spc="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20">
                <a:solidFill>
                  <a:srgbClr val="FFFFFF"/>
                </a:solidFill>
                <a:latin typeface="Arial MT"/>
                <a:cs typeface="Arial MT"/>
              </a:rPr>
              <a:t>your</a:t>
            </a:r>
            <a:r>
              <a:rPr sz="11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20">
                <a:solidFill>
                  <a:srgbClr val="FFFFFF"/>
                </a:solidFill>
                <a:latin typeface="Arial MT"/>
                <a:cs typeface="Arial MT"/>
              </a:rPr>
              <a:t>baseline,</a:t>
            </a:r>
            <a:r>
              <a:rPr sz="1100" spc="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20">
                <a:solidFill>
                  <a:srgbClr val="FFFFFF"/>
                </a:solidFill>
                <a:latin typeface="Arial MT"/>
                <a:cs typeface="Arial MT"/>
              </a:rPr>
              <a:t>predicts</a:t>
            </a:r>
            <a:r>
              <a:rPr sz="1100" spc="1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20">
                <a:solidFill>
                  <a:srgbClr val="FFFFFF"/>
                </a:solidFill>
                <a:latin typeface="Arial MT"/>
                <a:cs typeface="Arial MT"/>
              </a:rPr>
              <a:t>strain</a:t>
            </a:r>
            <a:r>
              <a:rPr sz="110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50">
                <a:solidFill>
                  <a:srgbClr val="FFFFFF"/>
                </a:solidFill>
                <a:latin typeface="Arial MT"/>
                <a:cs typeface="Arial MT"/>
              </a:rPr>
              <a:t>before</a:t>
            </a:r>
            <a:r>
              <a:rPr sz="11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55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1100" spc="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20">
                <a:solidFill>
                  <a:srgbClr val="FFFFFF"/>
                </a:solidFill>
                <a:latin typeface="Arial MT"/>
                <a:cs typeface="Arial MT"/>
              </a:rPr>
              <a:t>lands,</a:t>
            </a:r>
            <a:r>
              <a:rPr sz="11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2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10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2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1100" spc="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20">
                <a:solidFill>
                  <a:srgbClr val="FFFFFF"/>
                </a:solidFill>
                <a:latin typeface="Arial MT"/>
                <a:cs typeface="Arial MT"/>
              </a:rPr>
              <a:t>continuously</a:t>
            </a:r>
            <a:r>
              <a:rPr sz="1100" spc="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20">
                <a:solidFill>
                  <a:srgbClr val="FFFFFF"/>
                </a:solidFill>
                <a:latin typeface="Arial MT"/>
                <a:cs typeface="Arial MT"/>
              </a:rPr>
              <a:t>audited</a:t>
            </a:r>
            <a:r>
              <a:rPr sz="1100" spc="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2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110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00" spc="-10">
                <a:solidFill>
                  <a:srgbClr val="FFFFFF"/>
                </a:solidFill>
                <a:latin typeface="Arial MT"/>
                <a:cs typeface="Arial MT"/>
              </a:rPr>
              <a:t>PRISM.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  <p:transition spd="slow">
    <p:strips dir="r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575</Words>
  <Application>Microsoft Office PowerPoint</Application>
  <PresentationFormat>Widescreen</PresentationFormat>
  <Paragraphs>99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TILT AI</vt:lpstr>
      <vt:lpstr>Four hours in, your brain has already changed, and nothing told you</vt:lpstr>
      <vt:lpstr>Today's tools measure how you play, not how you're doing</vt:lpstr>
      <vt:lpstr>A system that learns your normal, then watches for drift</vt:lpstr>
      <vt:lpstr>PRISM is the layer that keeps the AI honest</vt:lpstr>
      <vt:lpstr>Signal to intervention, end to end</vt:lpstr>
      <vt:lpstr>Healthier habits now, far beyond gaming next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TILT AI</dc:title>
  <cp:lastModifiedBy>anshp0649@outlook.com</cp:lastModifiedBy>
  <cp:revision>4</cp:revision>
  <dcterms:created xsi:type="dcterms:W3CDTF">2026-09-14T08:13:54Z</dcterms:created>
  <dcterms:modified xsi:type="dcterms:W3CDTF">2026-09-14T09:06:01Z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2026-09-14T00:00:00Z</vt:filetime>
  </property>
  <property fmtid="{D5CDD505-2E9C-101B-9397-08002B2CF9AE}" pid="4" name="LastSaved">
    <vt:filetime>2026-09-14T00:00:00Z</vt:filetime>
  </property>
</Properties>
</file>